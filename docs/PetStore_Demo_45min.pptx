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Java Pet Store → Spring Boot 3 / Java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C5D3E6"/>
                </a:solidFill>
                <a:latin typeface="Calibri"/>
              </a:rPr>
              <a:t>Migration Playback — gaps fixed · phased plan · code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Legacy J2EE 1.3 · 4 EARs · EJB 2.x CMP · JMS (XML) · Cloudscape   →   8 Spring Boot services · JPA · JMS (JSON) · H2/MongoDB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45-minute session · ~30 min narrative + ~10 min live code + ~5 min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the 45 minutes are spent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686800"/>
                <a:gridCol w="18288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The brief &amp; what 'done' means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architecture — the starting point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Gaps in the legacy design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Migration strategy &amp; principles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Phased migration plan (7 phases)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JMS message migration — XML → JSON (Anti-Corruption Layer)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What we fixed — parity audit results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Target as-built architecture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CODE WALKTHROUGH (live)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MongoDB stretch goal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min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Wrap-up &amp; Q&amp;A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The Brief — what was asked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migration approach is the real 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Calibri"/>
              </a:rPr>
              <a:t>•  Target runtime: latest stable Spring Boot 3.x on Java 21 — host anywhere (laptop / cloud).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Public GitHub project with a README covering build + run steps for a developer.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Approach it as if the codebase were far larger: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break the problem into manageable tasks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apply infrastructure, scaffolding &amp; SW-engineering principles that mitigate migration risk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–  ensure the QUALITY of what is migrated — playback probes this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F8F46"/>
                </a:solidFill>
                <a:latin typeface="Calibri"/>
              </a:rPr>
              <a:t>•  Optional stretch: run against MongoDB instead of the relational DB.  → DONE.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C97C2F"/>
                </a:solidFill>
                <a:latin typeface="Calibri"/>
              </a:rPr>
              <a:t>•  Guiding constraint: zero business-logic change — parity first, characterization tests pin behavior.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Legacy Architecture — 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4 EARs · coupled ONLY via JMS · shared Cloudscape DB · messages travel as XML</a:t>
            </a:r>
          </a:p>
        </p:txBody>
      </p:sp>
      <p:pic>
        <p:nvPicPr>
          <p:cNvPr id="7" name="Picture 6" descr="petstore_legacy_high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1512282"/>
            <a:ext cx="11612880" cy="471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Gaps in the Legacy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blocks a straight port — and why it matters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886200"/>
              </a:tblGrid>
              <a:tr h="5791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Legacy construct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The problem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Migration response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J2EE 1.3 EAR + Sun RI + Ant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Dead runtime; no Java-21 app server; javax.* everywhere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Boot 3 fat-jars · Maven · javax→jakarta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EJB 2.x CMP (container-mapped)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Home/Remote/Local trios, ejb-jar.xml, ServiceLocator/JNDI — untestable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Spring Data JPA entities + repository ports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Messages as XML over JMS (xmldocuments)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Hand-marshalled TPA/XML DTOs; brittle, verbose, DTD-bound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JSON event envelope + Anti-Corruption Layer (§6)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Shared DB, tables duplicated per EAR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ContactInfo/Address/CreditCard copied across apps; no single owner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DB-per-service; each service owns its schema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MDB status writers + WAF StateMachine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God-objects; order status mutated in 3 places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One OrderStatusService; enum + guarded transitions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Implicit EJB container locking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Oversell/negative-stock risk once container lock is gone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Pessimistic SELECT…FOR UPDATE + CHECK(qty&gt;=0)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Swing / Java Web Start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Dead on a modern JVM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 admin endpoints + server-rendered console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SOAP webservices/ variant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Duplicate build of the same logic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Dropped — JMS build is the one source of truth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Migration Strategy &amp;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How we de-risk a large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Strangler Fig, not big-bang.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Migrate one bounded context at a time; keep it runnable at every step.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Characterization tests FIRST.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Pin legacy behavior (incl. quirks) before touching it; migrate → green-or-rollback.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Ports &amp; adapters (hexagonal).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Domain depends on interfaces; JPA / JMS / Mongo are swappable adapters.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SOLID + ask before choosing a pattern.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–  Enum+guards over State pattern; thin controllers over Command — right-sized.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371600"/>
            <a:ext cx="521208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087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The safety net (quality gate)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0574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Test pyramid: unit → @DataJpaTest slice → MockMvc → Testcontainers e2e.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B23A48"/>
                </a:solidFill>
                <a:latin typeface="Calibri"/>
              </a:rPr>
              <a:t>•  Golden-file message tests before any XML→JSON wire change.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Idempotent @JmsListener — JMS is at-least-once.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Parity audit: file-by-file legacy vs migrated (preserved/changed/missing).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Commit only on green; a migration ledger tracks each module.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Phased Migration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Vertical slices — each phase leaves a runnable app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903720"/>
                <a:gridCol w="256032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Scope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Done when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0 · Scaffold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Parent pom, Boot 3.x/Java 21, H2, Artemis, CI, char-test harness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empty app boots on Java 21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Catalog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Browse + catalog schema (CatalogRepository port + JPA adapter)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runs &amp; browsable locally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Customer / SignOn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Register, auth, profile (CMP → JPA); BCrypt upgrade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auth + profile tests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Cart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Session cart; all edge-case quirks preserved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cart edge tests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+ PurchaseOrder aggregate; OrderStatusService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checkout persists + emits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Fulfilment + JMS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Inventory (race-fixed), @JmsListener workflow, ACL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end-to-end order flow 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6 · Web + Admin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Thymeleaf UI, REST admin (replaces Swing), exception handler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UI + admin flows green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7 · Cutover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Data migration, parallel-run, reconciliation, decommission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off; ledger all-green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6419088"/>
            <a:ext cx="11567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Bias to a walking skeleton: Phase 1 gives a browsable app on day one; every later phase adds one vertical slice without breaking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JMS Message Migration — XML →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Legacy sent XML over JMS; we move to a JSON envelope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23A48"/>
                </a:solidFill>
                <a:latin typeface="Calibri"/>
              </a:rPr>
              <a:t>Legacy fact: shared data travelled as hand-marshalled XML documents (TPA/DTD) over JMS — e.g. checkout built a PurchaseOrder XML → jms/PurchaseOrderQueue.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83080"/>
          <a:ext cx="112471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120640"/>
                <a:gridCol w="3657600"/>
              </a:tblGrid>
              <a:tr h="388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we do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/ risk mitigated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1 · Freeze the contract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Capture real legacy XML messages as golden files (one per destination)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 regression oracle before any change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2 · Model events as records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PurchaseOrder/Invoice/Approved… → typed Java records + a shared envelope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Compile-time contract; no DTD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3 · Anti-Corruption Layer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 XML DTO ⇄ domain record in messaging/ — domain never sees XML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Wire format isolated behind a port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4 · Switch serializer to JSON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MappingJackson2MessageConverter; _type header for routing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Human-readable, versionable payloads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5 · Forward-compat + idempotency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FAIL_ON_UNKNOWN_PROPERTIES=false; dedup keys on consumers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Additive fields safe; at-least-once safe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297680"/>
            <a:ext cx="11247120" cy="19659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5254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petstore-messaging/.../MessagingConfig.java  (JSON converter + forward-compat)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81728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var conv = new MappingJackson2MessageConverter();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conv.setTargetType(MessageType.TEXT);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conv.setTypeIdPropertyName("_type");   // routes JSON back to the right record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mapper.configure(FAIL_ON_UNKNOWN_PROPERTIES, false); // newer producer can add fields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What We Fixed — Parity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File-by-file legacy vs migrated · 21 gaps found, all resolved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07008"/>
          <a:ext cx="115671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623560"/>
                <a:gridCol w="4937760"/>
              </a:tblGrid>
              <a:tr h="52006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Gap the audit found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 marT="25400" marB="25400" marL="63500" marR="63500">
                    <a:solidFill>
                      <a:srgbClr val="1F3355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H2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Backorder retry-on-restock dropped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event-driven: RestockEvent → OPC re-drives APPROVED backorders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H3/H4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Approval / denial / COMPLETED emails missing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OrderStatusTopic → notification-service emails restored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H5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Sales/revenue aggregation gone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OPC aggregateSales() + GET /api/sales; admin delegates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H6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Catalog search semantics changed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Restored tokenized multi-field LIKE search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Ship/bill address collection + validation lost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Both addresses collected + validated; persisted on order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H8/H9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New-customer profile defaults + sign-on locale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Legacy defaults restored; preferredLanguage applied on login</a:t>
                      </a:r>
                    </a:p>
                  </a:txBody>
                  <a:tcPr anchor="ctr" marT="25400" marB="25400" marL="63500" marR="63500">
                    <a:solidFill>
                      <a:srgbClr val="F2F4F7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M1–M7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Ordering, getItem.category, batch approval, etc.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F3355"/>
                          </a:solidFill>
                          <a:latin typeface="Calibri"/>
                        </a:defRPr>
                      </a:pPr>
                      <a:r>
                        <a:t>All restored (see PARITY_AUDIT.md)</a:t>
                      </a:r>
                    </a:p>
                  </a:txBody>
                  <a:tcPr anchor="ctr" marT="25400" marB="25400" marL="63500" marR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20040" y="5532120"/>
            <a:ext cx="11567160" cy="9601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6235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Calibri"/>
              </a:rPr>
              <a:t>Kept intentional (recorded in DECISIONS.md): H1 all-or-nothing fulfilment · M8 no persisted supplier PO.</a:t>
            </a:r>
          </a:p>
          <a:p>
            <a:pPr algn="l"/>
            <a:r>
              <a:rPr sz="1200" b="0">
                <a:solidFill>
                  <a:srgbClr val="B23A48"/>
                </a:solidFill>
                <a:latin typeface="Calibri"/>
              </a:rPr>
              <a:t>Two bugs caught by LIVE end-to-end testing (not unit tests): large orders auto-shipped without approval; approve→fulfil race (published before commit). Both fixed + regression-tested.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Target Architecture — As-Built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8 Spring Boot services · standalone Artemis · 2 queues + 3 topics + DLQ · 5 client SDKs</a:t>
            </a:r>
          </a:p>
        </p:txBody>
      </p:sp>
      <p:pic>
        <p:nvPicPr>
          <p:cNvPr id="7" name="Picture 6" descr="petstor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838" y="1170432"/>
            <a:ext cx="916601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C5D3E6"/>
                </a:solidFill>
                <a:latin typeface="Calibri"/>
              </a:rPr>
              <a:t>Live in the repo — the slides mirror the files, open the real code alongside.</a:t>
            </a:r>
          </a:p>
          <a:p>
            <a:pPr algn="l"/>
            <a:r>
              <a:rPr sz="1400" b="0">
                <a:solidFill>
                  <a:srgbClr val="9DB4D4"/>
                </a:solidFill>
                <a:latin typeface="Calibri"/>
              </a:rPr>
              <a:t>1) JMS contract  2) Anti-Corruption / envelope  3) checkout intake  4) pessimistic-lock fulfilment  5) restock re-drive  6) transactional outbox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1 — The JMS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One shared library defines every destination; producers/consumers import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petstore-messaging/src/com/petstore/messaging/Destinations.java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PURCHASE_ORDER_NAME = "PurchaseOrderQueue";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APPROVED_ORDER_NAME = "ApprovedOrderQueue";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INVOICE_NAME        = "InvoiceTopic";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ORDER_STATUS_NAME   = "OrderStatusTopic";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static final String RESTOCK_NAME        = "RestockTopic";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APPROVED_ORDER = queue(APPROVED_ORDER_NAME);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INVOICE        = topic(INVOICE_NAME);   // pub/sub fan-out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public static final Destination RESTOCK        = topic(RESTOCK_NAME);   // H2 re-drive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Single source of truth — no service hard-codes a destination string.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queue() = point-to-point (one consumer) · topic() = fan-out (legacy InvoiceTopic preserved).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2 queues + 3 topics; DLQ + ExpiryQueue are broker-managed safety nets.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2 — Checkout Intake (sync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Storefront hands the order to OPC over REST; JWT proxied for authz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74320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petstore-app-v1/src/com/petstore/order/service/OrderService.java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List&lt;CartItem&gt; items = cart.getItems();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if (items.isEmpty()) throw new EmptyCartException();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LOCALE = Locale.US, CURRENCY = "USD" (legacy quirk — UI locale does not flow in)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CheckoutRequest request = new CheckoutRequest(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orderId, userId, emailId, LOCALE, CURRENCY, total, lines, toDto(shipTo), toDto(billTo));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try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response = orderProcessing.checkout(request, bearer); // POST /api/orders/intake, JWT fwd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 catch (RestClientException e)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B23A48"/>
                </a:solidFill>
                <a:latin typeface="Consolas"/>
              </a:rPr>
              <a:t>    throw new OrderIntakeUnavailableException(...); // OPC down → 503, cart NOT emptied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cart.empty();   // only on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51960"/>
            <a:ext cx="11247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Legacy published a PurchaseOrder XML fire-and-forget; we made intake synchronous so the shopper gets an immediate, authoritative result.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storefront persists nothing — OPC is the authoritative order store (single writer).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 PurchaseOrderQueue listener is kept as an alternate async intake path (contract unchanged).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3 — Oversell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The sanctioned technical fix: pessimistic row lock replaces the EJB container 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26060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inventory-service/.../repository/jpa/InventoryJpaRepository.java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@Lock(LockModeType.PESSIMISTIC_WRITE)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@Query("select i from InventoryEntity i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Optional&lt;InventoryEntity&gt; findByIdForUpdate(String itemId);  // SELECT … FOR UPDATE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@Modifying(flushAutomatically = true, clearAutomatically = true)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@Query("update InventoryEntity i set i.quantity = i.quantity + :qty where i.itemId = :itemId")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int increment(String itemId, int qty);   // additive restock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check-and-decrement inside one @Transactional; DB CHECK (quantity &gt;= 0) is the floor.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Verified with a 20-thread test: 5 stock → exactly 5 succeed, never negative.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Preserves the legacy observable outcome: one order ships, the other backorders (stays APPROVED).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4 — Backorder Re-drive (H2)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Restore legacy processPendingPO without the legacy PENDING PO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247120" cy="306324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3502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order-processing-service/app/.../messaging/RestockListener.java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64208"/>
            <a:ext cx="10972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@JmsListener(destination = Destinations.RESTOCK_NAME, containerFactory = "topicFactory",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       subscription = "opc-restock")   // durable shared subscription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public void onRestock(RestockEvent restock)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Correlation.set(restock.meta() == null ? null : restock.meta().correlationId());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AdminService: orderIdsByStatus(APPROVED) → sorted by created (oldest-first)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    //             → approvalGateway.dispatchForFulfilment(order) per order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admin.redriveApprovedForFulfilment();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F3355"/>
                </a:solidFill>
                <a:latin typeface="Calibri"/>
              </a:rPr>
              <a:t>•  inventory publishes RestockEvent → RestockTopic when stock is added; OPC owns the order read-model and reacts.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F8F46"/>
                </a:solidFill>
                <a:latin typeface="Calibri"/>
              </a:rPr>
              <a:t>•  Idempotent end-to-end: inventory dedups by order_id (fulfilled_order ledger) — a re-driven order that already shipped never double-decrements.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Same observable behavior as legacy; no persisted supplier PO required (M8 kept).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Walkthrough 5 — Transactional Outbox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Order commit and 'approved' publish can't diverge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B23A48"/>
                </a:solidFill>
                <a:latin typeface="Calibri"/>
              </a:rPr>
              <a:t>•  Problem: if we persist the order then publish, a crash between them loses the message (or double-sends).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F3355"/>
                </a:solidFill>
                <a:latin typeface="Calibri"/>
              </a:rPr>
              <a:t>•  Fix: write the outgoing event into an outbox row in the SAME DB transaction as the order; a relay polls and publishes, marking rows sent. Publish is now exactly-effectively-once.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11247120" cy="2194560"/>
          </a:xfrm>
          <a:prstGeom prst="rect">
            <a:avLst/>
          </a:prstGeom>
          <a:solidFill>
            <a:srgbClr val="1E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55264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FB5F5"/>
                </a:solidFill>
                <a:latin typeface="Consolas"/>
              </a:rPr>
              <a:t>order-processing-service/app/.../service/  (AdminService · ApprovalGateway · OutboxRelay)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84448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@Transactional                                     // ONE atomic unit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void applyStatusChange(orderId, APPROVED) {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orders.updateStatus(orderId, APPROVED);         // order row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approvalGateway.dispatchForFulfilment(order);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7FB5F5"/>
                </a:solidFill>
                <a:latin typeface="Consolas"/>
              </a:rPr>
              <a:t>    statusGateway.announce(order, APPROVED);        // → OutboxWriter.enqueue(...) — SAME tx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2F8F46"/>
                </a:solidFill>
                <a:latin typeface="Consolas"/>
              </a:rPr>
              <a:t>// @Scheduled OutboxRelay polls unsent rows → MessagePublisher → marks published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Gateways NEVER publish to JMS directly — they append to the outbox table in-transaction, so a rolled-back order emits nothing and a committed one always eventually does. At-least-once relay is safe: fixed eventId + idempotent consumers. @Version optimistic lock stops an approve+deny race (→ 409); the Mongo adapter keeps outbox + @Version via multi-document transactions (rs0).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MongoDB Stretch —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Ports made the DB swap additive — zero change to domain / services /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1F3355"/>
                </a:solidFill>
                <a:latin typeface="Calibri"/>
              </a:rPr>
              <a:t>•  Profile-selectable: @Profile("mongo") vs @Profile("!mongo"); H2 stays the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order-processing-service — fully wired: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MongoOrderStore + MongoOutboxStore adapters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multi-document transactions (outbox + order commit)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–  @Version optimistic lock + $jsonSchema validators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E6DB4"/>
                </a:solidFill>
                <a:latin typeface="Calibri"/>
              </a:rPr>
              <a:t>•  catalog-service — Mongo adapter (3 collections, locale map embedded).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F8F46"/>
                </a:solidFill>
                <a:latin typeface="Calibri"/>
              </a:rPr>
              <a:t>•  Testcontainers mongo:7 parity tests on both.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371600"/>
            <a:ext cx="5120640" cy="42062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087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3355"/>
                </a:solidFill>
                <a:latin typeface="Calibri"/>
              </a:rPr>
              <a:t>Why it was cheap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05740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The domain talks to a port (OrderStore / OutboxStore), not to JPA.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F3355"/>
                </a:solidFill>
                <a:latin typeface="Calibri"/>
              </a:rPr>
              <a:t>•  Mongo is just another adapter behind the same interface.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•  Run it: OPC_STORE=mongo ./run-all.sh (docker-compose brings up mongo + mongo-express).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F8F46"/>
                </a:solidFill>
                <a:latin typeface="Calibri"/>
              </a:rPr>
              <a:t>•  This is the payoff of hexagonal boundaries chosen up front.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solidFill>
            <a:srgbClr val="C97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274320"/>
            <a:ext cx="1600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76656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5D3E6"/>
                </a:solidFill>
                <a:latin typeface="Calibri"/>
              </a:rPr>
              <a:t>What the playback should take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E6DB4"/>
                </a:solidFill>
                <a:latin typeface="Calibri"/>
              </a:rPr>
              <a:t>•  The approach de-risked a large migration: Strangler Fig + characterization tests + ports/adapters.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Every legacy construct has a deliberate modern mapping — nothing dropped by accident.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Messages moved XML → JSON behind an Anti-Corruption Layer, guarded by golden-file tests.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1F3355"/>
                </a:solidFill>
                <a:latin typeface="Calibri"/>
              </a:rPr>
              <a:t>•  A file-by-file parity audit found 21 drifts; all resolved or explicitly kept with an ADR.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B23A48"/>
                </a:solidFill>
                <a:latin typeface="Calibri"/>
              </a:rPr>
              <a:t>•  Live e2e testing caught two bugs unit tests missed — the safety net earned its keep.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F8F46"/>
                </a:solidFill>
                <a:latin typeface="Calibri"/>
              </a:rPr>
              <a:t>•  Stretch goal delivered: MongoDB behind the same ports, at near-zero domain cost.</a:t>
            </a:r>
          </a:p>
          <a:p>
            <a:pPr>
              <a:spcAft>
                <a:spcPts val="700"/>
              </a:spcAft>
            </a:pPr>
            <a:r>
              <a:rPr sz="800" b="0">
                <a:solidFill>
                  <a:srgbClr val="1F3355"/>
                </a:solidFill>
                <a:latin typeface="Calibri"/>
              </a:rPr>
              <a:t>•  </a:t>
            </a:r>
          </a:p>
          <a:p>
            <a:pPr>
              <a:spcAft>
                <a:spcPts val="700"/>
              </a:spcAft>
            </a:pPr>
            <a:r>
              <a:rPr sz="2200" b="1">
                <a:solidFill>
                  <a:srgbClr val="1F3355"/>
                </a:solidFill>
                <a:latin typeface="Calibri"/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