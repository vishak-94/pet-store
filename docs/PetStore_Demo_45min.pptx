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54864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Java Pet Store → Spring Boot 3 / Java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0604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C5D3E6"/>
                </a:solidFill>
                <a:latin typeface="Calibri"/>
              </a:rPr>
              <a:t>Migration Playback — gaps fixed · phased plan · code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6984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Legacy J2EE 1.3 · 4 EARs · EJB 2.x CMP · JMS (XML) · Cloudscape   →   8 Spring Boot services · JPA · JMS (JSON) · H2/MongoDB</a:t>
            </a:r>
          </a:p>
          <a:p>
            <a:pPr algn="l"/>
            <a:r>
              <a:rPr sz="1400" b="0">
                <a:solidFill>
                  <a:srgbClr val="9DB4D4"/>
                </a:solidFill>
                <a:latin typeface="Calibri"/>
              </a:rPr>
              <a:t>Narrative walkthrough · live code · Q&amp;A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What we'll walk through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10515600"/>
              </a:tblGrid>
              <a:tr h="379827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Section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The brief &amp; what 'done' means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Legacy architecture — the starting point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Gaps in the legacy design (overview + 1 slide per gap)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Migration strategy &amp; principles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Phased migration plan (7 phases)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 message migration — XML → JSON (Anti-Corruption Layer)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What we fixed — parity audit results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Target as-built architecture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Service inventory — summary + one slide per service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CODE WALKTHROUGH (live)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MongoDB stretch goal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798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Wrap-up &amp; Q&amp;A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The Brief — what was asked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migration approach is the real deliverable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Calibri"/>
              </a:rPr>
              <a:t>•  Target runtime: latest stable Spring Boot 3.x on Java 21 — host anywhere (laptop / cloud).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•  Public GitHub project with a README covering build + run steps for a developer.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2E6DB4"/>
                </a:solidFill>
                <a:latin typeface="Calibri"/>
              </a:rPr>
              <a:t>•  Approach it as if the codebase were far larger: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break the problem into manageable tasks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apply infrastructure, scaffolding &amp; SW-engineering principles that mitigate migration risk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B23A48"/>
                </a:solidFill>
                <a:latin typeface="Calibri"/>
              </a:rPr>
              <a:t>–  ensure the QUALITY of what is migrated — playback probes this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2F8F46"/>
                </a:solidFill>
                <a:latin typeface="Calibri"/>
              </a:rPr>
              <a:t>•  Optional stretch: run against MongoDB instead of the relational DB.  → DONE.</a:t>
            </a:r>
          </a:p>
          <a:p>
            <a:pPr>
              <a:spcAft>
                <a:spcPts val="700"/>
              </a:spcAft>
            </a:pPr>
            <a:r>
              <a:rPr sz="1600" b="1">
                <a:solidFill>
                  <a:srgbClr val="C97C2F"/>
                </a:solidFill>
                <a:latin typeface="Calibri"/>
              </a:rPr>
              <a:t>•  Guiding constraint: zero business-logic change — parity first, characterization tests pin behavior.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Legacy Architecture — the starting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4 EARs · coupled ONLY via JMS · shared Cloudscape DB · messages travel as XML</a:t>
            </a:r>
          </a:p>
        </p:txBody>
      </p:sp>
      <p:pic>
        <p:nvPicPr>
          <p:cNvPr id="5" name="Picture 4" descr="petstore_legacy_highle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1512282"/>
            <a:ext cx="11612880" cy="47112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Gaps in the Legacy Design —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8 structural gaps block a straight port · each gets its own slide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113385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1F3355"/>
                </a:solidFill>
                <a:latin typeface="Calibri"/>
              </a:rPr>
              <a:t>•  These are not bugs — the app worked in 2002. They are design decisions that a modern JVM, modern tooling, and a service-per-context target render unworkable or unsafe.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6DB4"/>
                </a:solidFill>
                <a:latin typeface="Calibri"/>
              </a:rPr>
              <a:t>•  Gap 1 — J2EE 1.3 EAR packaging on the Sun Reference Implementation, built with Ant.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6DB4"/>
                </a:solidFill>
                <a:latin typeface="Calibri"/>
              </a:rPr>
              <a:t>•  Gap 2 — EJB 2.x: entity beans (CMP), session beans and message-driven beans everywhere.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6DB4"/>
                </a:solidFill>
                <a:latin typeface="Calibri"/>
              </a:rPr>
              <a:t>•  Gap 3 — inter-app messages hand-marshalled as XML documents (TPA/DTD) over JMS.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6DB4"/>
                </a:solidFill>
                <a:latin typeface="Calibri"/>
              </a:rPr>
              <a:t>•  Gap 4 — one shared Cloudscape database with the same tables duplicated per EAR.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6DB4"/>
                </a:solidFill>
                <a:latin typeface="Calibri"/>
              </a:rPr>
              <a:t>•  Gap 5 — order status mutated in three MDBs plus the WAF screen-flow state machine.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6DB4"/>
                </a:solidFill>
                <a:latin typeface="Calibri"/>
              </a:rPr>
              <a:t>•  Gap 6 — concurrency safety left implicit to the EJB container (oversell risk).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6DB4"/>
                </a:solidFill>
                <a:latin typeface="Calibri"/>
              </a:rPr>
              <a:t>•  Gap 7 — the admin tool is a Swing / Java Web Start rich client.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6DB4"/>
                </a:solidFill>
                <a:latin typeface="Calibri"/>
              </a:rPr>
              <a:t>•  Gap 8 — a parallel SOAP 'webservices' build re-implements the same order logic.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 1 — J2EE 1.3 EAR packaging on the Sun Reference Implementation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runtime itself is gone — before any code, the deployment model must change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In the legacy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Ships as 4 enterprise archives (.ear): petstore, opc, supplier, admin — each a bundle of web (.war) + EJB (.jar) modules glued by application.xml.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Runs only inside the J2EE 1.3 Sun Reference Implementation app server (Cloudscape DB, JNDI naming, JMS provider all supplied by that container).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Built with Ant + hand-written deployment descriptors; deployed by dropping EARs into the server and editing sun-j2ee-ri.xml bindings.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Every import is javax.* (javax.ejb, javax.servlet, javax.jms, javax.naming).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77056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Why it blocks a straight 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42816"/>
            <a:ext cx="5806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The Sun RI app server no longer exists and does not run on a modern JVM — there is nothing to deploy an EAR into on Java 21.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Jakarta EE 9+ renamed every javax.* package to jakarta.* — legacy imports won't even compile against current libraries.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EAR-in-container assumes a heavyweight app server; it can't be a self-contained, 'java -jar' cloud artifact.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Migration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Spring Boot 3.3.5 fat-jars — each service is one self-contained executable jar with an embedded Tomcat; host on a laptop or any cloud with java -jar.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Maven multi-module build replaces Ant; dependencies + versions are declarative.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Blanket javax.* → jakarta.* migration across the codebase.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4 EARs become 8 independently deployable services (see the target architecture).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Config is externalised (application.yml / env vars) instead of container-bound descriptors — 12-factor friendly.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Outcome: a runnable-anywhere artifact on a supported runtime — the precondition for everything else.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 2 — EJB 2.x is the entire backbone (primer + gap)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Enterprise JavaBeans: the J2EE server-side component model the whole app is built 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33856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F3355"/>
                </a:solidFill>
                <a:latin typeface="Calibri"/>
              </a:rPr>
              <a:t>EJB = Enterprise JavaBeans — the standard server-side component model of J2EE. A 'bean' is a managed object the app server hosts; you write business logic and the container supplies transactions, security, pooling, remoting, lifecycle and (for entity beans) persistence.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65960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The three bean types the Pet Store uses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31720"/>
            <a:ext cx="5806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Session beans — business logic. Stateful ShoppingCart; stateless SignOn, Catalog, OPC/PurchaseOrder facades.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C97C2F"/>
                </a:solidFill>
                <a:latin typeface="Calibri"/>
              </a:rPr>
              <a:t>•  Entity beans (CMP) — persistent rows the container maps to tables: Customer, Account, Profile, PurchaseOrder, LineItem, Inventory, ContactInfo, CreditCard.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Message-driven beans (MDB) — async JMS consumers: PurchaseOrderMDB, InvoiceMDB, OrderApprovalMDB, Mail*MDB.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343400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Why it blocks a straight 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09160"/>
            <a:ext cx="5806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Every bean needs an interface trio (Home + Remote/Local + Bean class) plus ejb-jar.xml / sun-j2ee-ri.xml wiring — enormous boilerplate.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B23A48"/>
                </a:solidFill>
                <a:latin typeface="Calibri"/>
              </a:rPr>
              <a:t>•  Beans are located by JNDI via a ServiceLocator, not injected — you cannot unit-test without a running container.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CMP mappings + finder queries (EJB-QL) live in XML, tied to the dead container.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46520" y="1965960"/>
            <a:ext cx="5349240" cy="46177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56832" y="2084831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8F46"/>
                </a:solidFill>
                <a:latin typeface="Calibri"/>
              </a:rPr>
              <a:t>Migration response — bean-by-bean mapping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2560320"/>
            <a:ext cx="4937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Session bean → Spring @Service / @Component (constructor injection, no JNDI).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–  Stateful ShoppingCart → session-scoped cart-lib component.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Entity bean (CMP) → JPA @Entity + a Spring Data repository behind a domain port.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–  EJB-QL finders → derived queries / @Query; mappings in annotations, not XML.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Message-driven bean → @JmsListener method on a plain bean.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–  Home/Remote/Local trios + ServiceLocator → deleted; DI wires collaborators.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2F8F46"/>
                </a:solidFill>
                <a:latin typeface="Calibri"/>
              </a:rPr>
              <a:t>•  Result: plain testable Java — JUnit + Mockito, no container needed.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 3 — Inter-app messages are hand-marshalled XML over JMS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apps only talk via JMS — and every payload is a verbose XML document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In the legacy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4 EARs are decoupled: they never call each other directly, they exchange JMS messages.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Payloads are XML documents built by hand (the TPA — Trading Partner Agreement — schemas, plus PurchaseOrder / Invoice / SupplierPO DTDs).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Checkout serialises a PurchaseOrder into XML and sends it to jms/PurchaseOrderQueue; the OPC MDB parses the XML back into objects.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Every message type has bespoke marshal / unmarshal code and a matching DTD.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77056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Why it blocks a straight 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42816"/>
            <a:ext cx="5806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Hand-rolled XML marshalling is brittle and verbose — a field rename means editing DTD, marshaller and parser in lock-step.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DTD-bound payloads are rigid: no forward compatibility, a new field can break older readers.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The wire format leaks into domain code — business classes know about XML structure.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XML parsing per message is CPU-heavy and hard to debug when a payload is malformed.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Migration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Model each message as a typed Java record wrapped in one shared event envelope (petstore-messaging).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Serialize as JSON via MappingJackson2MessageConverter; a _type header routes each JSON back to the right record.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An Anti-Corruption Layer maps wire ⇄ domain, so the domain never sees the transport format.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F8F46"/>
                </a:solidFill>
                <a:latin typeface="Calibri"/>
              </a:rPr>
              <a:t>•  FAIL_ON_UNKNOWN_PROPERTIES=false → a newer producer's additive field can't poison an older consumer.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Golden-file tests freeze the legacy contract before the switch (full detail in the JMS migration slide, §6).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This is the gap the brief called out explicitly — legacy JMS = XML; migrated JMS = JSON + ACL.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 4 — One shared Cloudscape DB, tables duplicated per 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No single owner of any entity — the same customer data is copied across apps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In the legacy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All 4 EARs read/write one shared Cloudscape database instance.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Common structures — ContactInfo, Address, CreditCard, LineItem — are redefined and stored independently inside petstore, opc and supplier.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There is no authoritative owner: customer/account data physically lives in several schemas at once.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CMP entity beans in different EARs map their own copies of overlapping tables.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77056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Why it blocks a straight 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42816"/>
            <a:ext cx="5806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Shared schema = shared coupling: any table change ripples across every EAR at once.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Duplicated entities drift — the same 'customer' can disagree between apps, with no source of truth.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Impossible to scale, deploy or reason about a service in isolation when they all touch one DB.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Migration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Database-per-service: each service owns its schema and is the sole writer of its data.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auth-service is the single owner of credentials/accounts; customer-service owns profile/address/card; OPC owns orders; inventory owns stock.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Cross-service data is fetched over typed client SDKs (HTTP), never by reaching into another service's tables.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Each service uses file H2 by default (OPC + catalog also run on MongoDB) — swappable behind a repository port.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F8F46"/>
                </a:solidFill>
                <a:latin typeface="Calibri"/>
              </a:rPr>
              <a:t>•  A clear ownership boundary makes each service independently testable and deployable.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Bounded contexts replace one shared schema — the core of the service decomposition.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 5 — Order status mutated in 3 MDBs + the WAF state machine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No single authority for an order's lifecycle — status is written in several places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In the legacy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Order state advances as JMS messages ripple through separate MDBs (PurchaseOrderMDB → OrderApprovalMDB → InvoiceMDB → mailer MDBs).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Each MDB independently writes the order/purchase-order status it cares about.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Web Application Framework (WAF) adds its own screen-flow StateMachine / RequestProcessor on the web tier.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'current status' of an order is therefore an emergent property of several beans.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77056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Why it blocks a straight 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42816"/>
            <a:ext cx="5806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Status logic is smeared across multiple god-objects — no one class you can point at for 'what are the legal transitions?'.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Concurrent messages can interleave and drive invalid transitions; nothing enforces the state chart.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The bespoke WAF framework is dead weight — a whole homegrown MVC engine to maintain.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Migration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One OrderStatusService is the single authority for lifecycle changes.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Status is an explicit enum with guarded transitions (illegal transition → rejected), not an emergent side effect.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applyStatusChange runs in one @Transactional unit; a @Version optimistic lock stops an approve+deny race (→ 409).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WAF screen flow is replaced by thin Spring MVC controllers + Thymeleaf.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F8F46"/>
                </a:solidFill>
                <a:latin typeface="Calibri"/>
              </a:rPr>
              <a:t>•  Status announcements go out via the transactional outbox — commit and publish can't diverge (§ walkthrough 5).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Enum + guards was chosen over the full State pattern — right-sized for this lifecycle.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 6 — Concurrency safety left implicit to the EJB container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Take the container away and nothing stops two orders overselling the same stock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In the legacy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Inventory decrement relied on the EJB container's transaction + entity-bean locking to serialise concurrent access.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There is no explicit lock or stock-floor check in the business code — it trusts the container to prevent lost updates.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Fulfilment reads stock, decides, then decrements as separate steps within a container-managed transaction.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77056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Why it blocks a straight 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42816"/>
            <a:ext cx="5806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Once the container is gone, read-then-write is a classic race: two orders both read '5', both decrement, stock goes negative (oversell).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Nothing in the schema prevents a negative quantity.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With JMS at-least-once delivery, a redelivered fulfilment could double-decrement.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Migration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Pessimistic row lock: findByIdForUpdate issues SELECT … FOR UPDATE so only one transaction touches a stock row at a time.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Check-and-decrement runs inside one @Transactional method.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 DB CHECK (quantity &gt;= 0) constraint is the hard floor — the DB refuses to go negative.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Idempotent consumer: a fulfilled_order dedup ledger means a redelivered order never double-decrements.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F8F46"/>
                </a:solidFill>
                <a:latin typeface="Calibri"/>
              </a:rPr>
              <a:t>•  Verified with a 20-thread test on 5 units → exactly 5 succeed, never negative; the rest backorder (stay APPROVED).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This was the one sanctioned technical fix — an explicit lock replacing an implicit one.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 7 — The admin tool is a Swing / Java Web Start rich client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back-office console is a desktop app launched from the browser — a dead delivery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In the legacy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admin application is a Swing GUI, delivered via Java Web Start (JNLP) and launched from a browser link.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It talks to the OPC server over a remote EJB / XML-RPC channel to list, approve and deny orders and view sales charts.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It is a separate rich-client codebase from the web storefront.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77056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Why it blocks a straight 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42816"/>
            <a:ext cx="5806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Java Web Start was removed from the JDK after Java 8 — the launch mechanism no longer exists.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Browsers dropped the applet/JNLP plumbing entirely — nothing to click.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A desktop Swing client is the wrong shape for a modern web-hosted, deploy-anywhere admin surface.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Migration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Admin becomes REST endpoints on admin-office-service (list / approve / deny / sales) that delegate to OPC.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 server-rendered Thymeleaf console replaces the Swing UI — same tasks, in the browser.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admin-office-service owns no data — it is a thin console over the OPC facade (SDK).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Auth is unified: the admin logs in through the same central IdP (JWT) as everything else.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Same operator tasks, delivered as a normal web app instead of a desktop download.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 8 — A parallel SOAP 'webservices' build duplicates order logic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sample ships two implementations of the supplier flow — JMS and SOAP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In the legacy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Pet Store 1.3.1 includes a webservices/ variant that re-implements the supplier purchase-order exchange over SOAP/JAX-RPC instead of JMS.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It exists to demo J2EE web-services interoperability — the same business flow, a second transport.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Two code paths, two sets of DTOs, for one conceptual operation.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77056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Why it blocks a straight 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42816"/>
            <a:ext cx="5806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Maintaining two implementations of the same order logic doubles the surface with no functional gain for this project.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JAX-RPC / early SOAP stacks are themselves legacy and unsupported on the target runtime.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Keeping both would blur which path is authoritative.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Migration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Dropped intentionally: the JMS build is kept as the single source of truth for the order/supplier flow.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This is a scope decision, recorded as an ADR — not an accidental omission.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If external SOAP interop were ever needed, it would be re-added as a thin adapter in front of the same domain, not a parallel implementation.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A deliberate de-duplication — one flow, one implementation.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Migration Strategy &amp; Principles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How we de-risk a large 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 b="1">
                <a:solidFill>
                  <a:srgbClr val="2E6DB4"/>
                </a:solidFill>
                <a:latin typeface="Calibri"/>
              </a:rPr>
              <a:t>•  Strangler Fig, not big-bang.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Migrate one bounded context at a time; keep it runnable at every step.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2E6DB4"/>
                </a:solidFill>
                <a:latin typeface="Calibri"/>
              </a:rPr>
              <a:t>•  Characterization tests FIRST.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Pin legacy behavior (incl. quirks) before touching it; migrate → green-or-rollback.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2E6DB4"/>
                </a:solidFill>
                <a:latin typeface="Calibri"/>
              </a:rPr>
              <a:t>•  Ports &amp; adapters (hexagonal).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Domain depends on interfaces; JPA / JMS / Mongo are swappable adapters.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2E6DB4"/>
                </a:solidFill>
                <a:latin typeface="Calibri"/>
              </a:rPr>
              <a:t>•  SOLID + ask before choosing a pattern.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Enum+guards over State pattern; thin controllers over Command — right-sized.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37960" y="1371600"/>
            <a:ext cx="5212080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150876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3355"/>
                </a:solidFill>
                <a:latin typeface="Calibri"/>
              </a:rPr>
              <a:t>The safety net (quality gate)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05740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Test pyramid: unit → @DataJpaTest slice → MockMvc → Testcontainers e2e.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Golden-file message tests before any XML→JSON wire change.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Idempotent @JmsListener — JMS is at-least-once.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Parity audit: file-by-file legacy vs migrated (preserved/changed/missing).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Commit only on green; a migration ledger tracks each module.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Phased Migration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Vertical slices — each phase leaves a runnable app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207008"/>
          <a:ext cx="1156716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6903720"/>
                <a:gridCol w="2560320"/>
              </a:tblGrid>
              <a:tr h="5791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Phase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Scope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Done when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0 · Scaffold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Parent pom, Boot 3.x/Java 21, H2, Artemis, CI, char-test harness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empty app boots on Java 21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 · Catalog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Browse + catalog schema (CatalogRepository port + JPA adapter)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runs &amp; browsable locally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 · Customer / SignOn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Register, auth, profile (CMP → JPA); BCrypt upgrade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auth + profile tests green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 · Cart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Session cart; all edge-case quirks preserved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 edge tests green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 · Order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 + PurchaseOrder aggregate; OrderStatusService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 persists + emits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 · Fulfilment + JMS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Inventory (race-fixed), @JmsListener workflow, ACL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end-to-end order flow green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6 · Web + Admin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Thymeleaf UI, REST admin (replaces Swing), exception handler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UI + admin flows green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7 · Cutover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Data migration, parallel-run, reconciliation, decommission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legacy off; ledger all-green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6419088"/>
            <a:ext cx="11567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Bias to a walking skeleton: Phase 1 gives a browsable app on day one; every later phase adds one vertical slice without breaking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JMS Message Migration — XML → JSON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Legacy sent XML over JMS; we move to a JSON envelope safely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471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B23A48"/>
                </a:solidFill>
                <a:latin typeface="Calibri"/>
              </a:rPr>
              <a:t>Legacy fact: shared data travelled as hand-marshalled XML documents (TPA/DTD) over JMS — e.g. checkout built a PurchaseOrder XML → jms/PurchaseOrderQueue.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783080"/>
          <a:ext cx="1124712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120640"/>
                <a:gridCol w="3657600"/>
              </a:tblGrid>
              <a:tr h="3886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Step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we do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Why / risk mitigated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 · Freeze the contract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Capture real legacy XML messages as golden files (one per destination)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 regression oracle before any change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 · Model events as records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PurchaseOrder/Invoice/Approved… → typed Java records + a shared envelope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Compile-time contract; no DTD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 · Anti-Corruption Layer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Map XML DTO ⇄ domain record in messaging/ — domain never sees XML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Wire format isolated behind a port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 · Switch serializer to JSON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MappingJackson2MessageConverter; _type header for routing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Human-readable, versionable payloads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 · Forward-compat + idempotency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FAIL_ON_UNKNOWN_PROPERTIES=false; dedup keys on consumers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Additive fields safe; at-least-once safe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297680"/>
            <a:ext cx="11247120" cy="1965960"/>
          </a:xfrm>
          <a:prstGeom prst="rect">
            <a:avLst/>
          </a:prstGeom>
          <a:solidFill>
            <a:srgbClr val="1E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35254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FB5F5"/>
                </a:solidFill>
                <a:latin typeface="Consolas"/>
              </a:rPr>
              <a:t>petstore-messaging/.../MessagingConfig.java  (JSON converter + forward-compat)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681728"/>
            <a:ext cx="109728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var conv = new MappingJackson2MessageConverter();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conv.setTargetType(MessageType.TEXT);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conv.setTypeIdPropertyName("_type");   // routes JSON back to the right record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mapper.configure(FAIL_ON_UNKNOWN_PROPERTIES, false); // newer producer can add fields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What We Fixed — Parity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File-by-file legacy vs migrated · 21 gaps found, all resolved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207008"/>
          <a:ext cx="1156716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5623560"/>
                <a:gridCol w="4937760"/>
              </a:tblGrid>
              <a:tr h="52006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Gap the audit found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Resolution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H2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Backorder retry-on-restock dropped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RESTORED event-driven: RestockEvent → OPC re-drives APPROVED backorders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H3/H4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Approval / denial / COMPLETED emails missing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OrderStatusTopic → notification-service emails restored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H5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Sales/revenue aggregation gone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 aggregateSales() + GET /api/sales; admin delegates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H6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 search semantics changed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Restored tokenized multi-field LIKE search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H7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Ship/bill address collection + validation lost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Both addresses collected + validated; persisted on order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H8/H9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New-customer profile defaults + sign-on locale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Legacy defaults restored; preferredLanguage applied on login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M1–M7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Ordering, getItem.category, batch approval, etc.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All restored (see PARITY_AUDIT.md)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20040" y="5532120"/>
            <a:ext cx="11567160" cy="9601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562356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Kept intentional (recorded in DECISIONS.md): H1 all-or-nothing fulfilment · M8 no persisted supplier PO.</a:t>
            </a:r>
          </a:p>
          <a:p>
            <a:pPr algn="l"/>
            <a:r>
              <a:rPr sz="1200" b="0">
                <a:solidFill>
                  <a:srgbClr val="B23A48"/>
                </a:solidFill>
                <a:latin typeface="Calibri"/>
              </a:rPr>
              <a:t>Two bugs caught by LIVE end-to-end testing (not unit tests): large orders auto-shipped without approval; approve→fulfil race (published before commit). Both fixed + regression-tested.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Target Architecture — As-Built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8 Spring Boot services · standalone Artemis · 2 queues + 3 topics + DLQ · 5 client SDKs</a:t>
            </a:r>
          </a:p>
        </p:txBody>
      </p:sp>
      <p:pic>
        <p:nvPicPr>
          <p:cNvPr id="5" name="Picture 4" descr="petstor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2838" y="1170432"/>
            <a:ext cx="916601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Service Inventory —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8 services · 5 published client SDKs · 2 shared libraries · DB-per-service · one broker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170432"/>
          <a:ext cx="1165859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874519"/>
                <a:gridCol w="2606040"/>
                <a:gridCol w="2514600"/>
                <a:gridCol w="2194560"/>
              </a:tblGrid>
              <a:tr h="4826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Service (port)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From legacy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Owns / DB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Publishes SDK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JMS role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petstore-app-v1 (8080)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petstore.ear web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DB (broker client)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 (sync REST intake)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auth-service (8086)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SignOn EJB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accounts · H2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auth-client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customer-service (8081)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Customer CMP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profile/addr/card · H2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customer-service-client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catalog-service (8083)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 EJB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 · H2 / MongoDB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catalog-service-client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order-processing (8088)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opc.ear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orders+outbox · H2 / MongoDB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order-processing-client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consume+publish (core)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inventory-service (8085)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supplier.ear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stock+dedup · H2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inventory-service-client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consume+publish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admin-office (8082)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admin.ear (Swing)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DB (delegates to OPC)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notification (8087)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Mail*MDB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DB (stateless)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consume only (topics+DLQ)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74320" y="5623560"/>
            <a:ext cx="11658600" cy="9144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705856"/>
            <a:ext cx="113385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3355"/>
                </a:solidFill>
                <a:latin typeface="Calibri"/>
              </a:rPr>
              <a:t>Shared libraries (in-process, not services): cart-lib (session cart) · petstore-messaging (JMS destinations + JSON event envelope).</a:t>
            </a:r>
          </a:p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Each stateful service owns its own schema (DB-per-service); services never touch another's tables — they call its client SDK over HTTP or react to its JMS events. Follow-up slides cover each service.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petstore-app-v1  (Storefront)  ·  :8080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From the legacy petstore.ear web tier (WAF + JSP)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customer-facing shop: browse categories/products/items, search, session cart, checkout.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Server-rendered Thymeleaf UI with i18n (en/ja/zh) — replaces the legacy WAF + JSP screen flow.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Persists NOTHING itself: it is a pure client of the backing services + the broker.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Embeds cart-lib in-process; resolves cart items via the catalog SDK.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Live stock badge / quantity cap driven by the inventory SDK.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API surface (HTTP)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806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GET / /category /product /item /search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POST /cart add/set/update/delete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GET/POST /checkout  → sync REST intake to OPC (JWT forwarded)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8F46"/>
                </a:solidFill>
                <a:latin typeface="Calibri"/>
              </a:rPr>
              <a:t>Published client SDK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627632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Publishes none (it's an edge app, not a called service). IMPORTS five: auth-client, catalog-service-client, customer-service-client, order-processing-client, inventory-service-client.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27889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97C2F"/>
                </a:solidFill>
                <a:latin typeface="Calibri"/>
              </a:rPr>
              <a:t>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313639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No database. State lives in the session cart (cart-lib, ~15-min TTL) and in the downstream services it calls.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43891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23A48"/>
                </a:solidFill>
                <a:latin typeface="Calibri"/>
              </a:rPr>
              <a:t>JMS 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4736592"/>
            <a:ext cx="4937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No JMS. Checkout is synchronous REST to OPC (immediate authoritative result). The legacy fire-and-forget PurchaseOrder-XML publish was replaced by that REST intake (OPC still keeps a PurchaseOrderQueue listener as an alt async path).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806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Legacy mapping: petstore.ear web tier → thin Spring MVC storefront, no business data of its own.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auth-service  (central IdP)  ·  :8086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From the legacy SignOn EJB — now the one identity provider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6B5B3E"/>
                </a:solidFill>
                <a:latin typeface="Calibri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single identity provider: authenticates users and MINTS RS256 JWTs.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ONLY holder of the private signing key and of user credentials.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Provisions credentials for new customers (called by customer-service).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Every other service verifies JWTs with the public key only (auth-client) — no shared secret.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API surface (HTTP)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806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POST /auth/login  → mint JWT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POST /auth/accounts  → provision credential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8F46"/>
                </a:solidFill>
                <a:latin typeface="Calibri"/>
              </a:rPr>
              <a:t>Published client SDK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627632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Publishes auth-client — RS256 verify (public key) + a login helper. Imported by storefront, customer, admin-office, OPC, inventory (everyone that authenticates or verifies a token).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27889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97C2F"/>
                </a:solidFill>
                <a:latin typeface="Calibri"/>
              </a:rPr>
              <a:t>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313639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Owns the account/credential store · file H2. Sole owner of identity data — no other service stores credentials.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43891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23A48"/>
                </a:solidFill>
                <a:latin typeface="Calibri"/>
              </a:rPr>
              <a:t>JMS 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4736592"/>
            <a:ext cx="4937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None. Auth is request/response only.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806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Legacy mapping: SignOn EJB → a standalone IdP; centralises what was scattered auth logic.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customer-service  ·  :8081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From the legacy Customer / Account CMP entity beans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6B4FA0"/>
                </a:solidFill>
                <a:latin typeface="Calibri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Owns customer PII: profile, contact/address, and credit-card data.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Registers new customers, then calls auth-service to provision their credential.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Restores legacy new-customer profile defaults + preferred-language handling.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API surface (HTTP)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806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POST /register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GET /customer/{id}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PUT /account /profile /card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8F46"/>
                </a:solidFill>
                <a:latin typeface="Calibri"/>
              </a:rPr>
              <a:t>Published client SDK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627632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Publishes customer-service-client — customer API + DTOs. Imported by the storefront (profile/registration screens).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27889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97C2F"/>
                </a:solidFill>
                <a:latin typeface="Calibri"/>
              </a:rPr>
              <a:t>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313639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Owns the customer schema (profile / address / card) · file H2. The single owner of customer PII — replaces the CMP tables duplicated across legacy EARs.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43891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23A48"/>
                </a:solidFill>
                <a:latin typeface="Calibri"/>
              </a:rPr>
              <a:t>JMS 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4736592"/>
            <a:ext cx="4937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None. Imports auth-client to provision credentials over HTTP.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806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Legacy mapping: Customer/Account CMP beans → a bounded customer context with its own schema.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catalog-service  ·  :8083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From the legacy Catalog EJB — read-mostly, multi-locale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86AB"/>
                </a:solidFill>
                <a:latin typeface="Calibri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Serves the product catalog: categories, products, items, keyword search.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Read-mostly, multi-locale (locale-split tables/collections; en/ja/zh).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Restored the legacy tokenized multi-field LIKE search semantics (parity H6).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Second service (with OPC) proven on MongoDB behind the same repository port.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API surface (HTTP)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806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GET /api/categories /products /items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GET /api/items?keyword=...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8F46"/>
                </a:solidFill>
                <a:latin typeface="Calibri"/>
              </a:rPr>
              <a:t>Published client SDK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627632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Publishes catalog-service-client — catalog API + DTOs. Imported by the storefront and, in-process, by cart-lib (to resolve cart line items).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27889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97C2F"/>
                </a:solidFill>
                <a:latin typeface="Calibri"/>
              </a:rPr>
              <a:t>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313639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Owns the catalog schema · file H2 by default, OR MongoDB (@Profile mongo) — 3 collections with an embedded locale map. Same port, swappable adapter.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43891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23A48"/>
                </a:solidFill>
                <a:latin typeface="Calibri"/>
              </a:rPr>
              <a:t>JMS 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4736592"/>
            <a:ext cx="4937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None. Pure read API.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806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Legacy mapping: Catalog EJB → a read-optimised service; the ItemDto still carries the legacy attr1..5 slots.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order-processing-service  (OPC)  ·  :8088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From the legacy opc.ear — the authoritative order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8860B"/>
                </a:solidFill>
                <a:latin typeface="Calibri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authoritative owner of orders and their workflow status for the whole system.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Intake → auto-approve under a currency threshold, else PENDING for a human admin.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Owns the order lifecycle enum + guarded transitions; @Version stops approve/deny races.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Transactional outbox: order write + event emit commit atomically (no lost/dup publish).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Re-drives APPROVED backorders on RestockTopic (the restored legacy processPendingPO).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API surface (HTTP)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806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POST /api/orders/intake  (sync checkout)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GET/POST /api/orders  approve|deny|status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GET /api/sales  (revenue aggregation)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8F46"/>
                </a:solidFill>
                <a:latin typeface="Calibri"/>
              </a:rPr>
              <a:t>Published client SDK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627632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Publishes order-processing-client — OPC facade + intake DTOs + endpoint constants. Imported by the storefront (checkout intake) and admin-office (approve/deny/sales).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27889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97C2F"/>
                </a:solidFill>
                <a:latin typeface="Calibri"/>
              </a:rPr>
              <a:t>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313639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Owns orders + outbox (authoritative) · file H2 by default (Flyway schema), OR MongoDB (@Profile mongo) with multi-document transactions on replica set rs0.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43891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23A48"/>
                </a:solidFill>
                <a:latin typeface="Calibri"/>
              </a:rPr>
              <a:t>JMS 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4736592"/>
            <a:ext cx="4937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The JMS hub. CONSUMES PurchaseOrderQueue, InvoiceTopic, RestockTopic; PUBLISHES OrderApprovedEvent → ApprovedOrderQueue and OrderStatusEvent → OrderStatusTopic. All outbound events go through the outbox relay.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806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Legacy mapping: opc.ear (PurchaseOrderMDB + OPCAdminFacade) → one service, single order writer.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inventory-service  (fulfilment)  ·  :8085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From the legacy supplier.ear — fulfils approved orders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97C2F"/>
                </a:solidFill>
                <a:latin typeface="Calibri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Fulfils approved orders: reserves stock and ships, or backorders if short.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Oversell guard: pessimistic SELECT…FOR UPDATE + DB CHECK(qty&gt;=0) (the one sanctioned fix).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Idempotent: a fulfilled_order dedup ledger stops a redelivered order double-decrementing.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Suppliers restock stock, which re-drives backorders across the system.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API surface (HTTP)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806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GET /api/inventory  (stock read)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POST /api/inventory  restock (SUPPLIER role)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8F46"/>
                </a:solidFill>
                <a:latin typeface="Calibri"/>
              </a:rPr>
              <a:t>Published client SDK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627632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Publishes inventory-service-client — stock read SDK with a single-flight cache. Imported by the storefront (live stock badge / quantity cap). The newest SDK.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27889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97C2F"/>
                </a:solidFill>
                <a:latin typeface="Calibri"/>
              </a:rPr>
              <a:t>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313639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Owns the inventory schema (on-hand stock) + the dedup ledger · file H2. Sole owner of stock levels.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43891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23A48"/>
                </a:solidFill>
                <a:latin typeface="Calibri"/>
              </a:rPr>
              <a:t>JMS 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4736592"/>
            <a:ext cx="4937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CONSUMES ApprovedOrderQueue (reserve+ship). PUBLISHES InvoiceEvent → InvoiceTopic (ship confirmation) and RestockEvent → RestockTopic (triggers OPC's backorder re-drive).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806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Legacy mapping: supplier.ear → a fulfilment service; container locking replaced by an explicit row lock.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admin-office-service  (console)  ·  :8082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From the legacy admin.ear Swing / Java Web Start client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back-office console: list / approve / deny orders, view sales.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Server-rendered Thymeleaf UI replacing the dead Swing / Java Web Start rich client.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Owns NO data — a thin console that delegates every action to OPC via its SDK.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Admin logs in through the same central IdP (JWT) as everyone else.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API surface (HTTP)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806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GET /warehouse/orders  (console UI)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POST approve | deny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8F46"/>
                </a:solidFill>
                <a:latin typeface="Calibri"/>
              </a:rPr>
              <a:t>Published client SDK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627632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Publishes none. IMPORTS order-processing-client (all order/sales actions) and auth-client (login + verify).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27889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97C2F"/>
                </a:solidFill>
                <a:latin typeface="Calibri"/>
              </a:rPr>
              <a:t>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313639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No database. Every read/write is delegated to OPC — admin-office is stateless.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43891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23A48"/>
                </a:solidFill>
                <a:latin typeface="Calibri"/>
              </a:rPr>
              <a:t>JMS 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4736592"/>
            <a:ext cx="4937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None. Pure HTTP delegation to OPC.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806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Legacy mapping: admin.ear Swing client → a normal web console; same operator tasks in the browser.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notification-service  ·  :8087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From the legacy Mail*MDB beans — a pure event observer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Sends customer emails: approval / denial / shipped / completed.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 pure, stateless event observer — persists nothing, owns no business state.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Also the operator safety net: logs DLQ + ExpiryQueue messages at ERROR.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API surface (HTTP)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806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No public HTTP API — it is a message consumer only.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8F46"/>
                </a:solidFill>
                <a:latin typeface="Calibri"/>
              </a:rPr>
              <a:t>Published client SDK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627632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Publishes none — nothing calls it. It only subscribes to the broker.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27889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97C2F"/>
                </a:solidFill>
                <a:latin typeface="Calibri"/>
              </a:rPr>
              <a:t>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313639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No database — stateless. (Idempotency is deferred by decision: harmless while the mailer only logs.)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438912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23A48"/>
                </a:solidFill>
                <a:latin typeface="Calibri"/>
              </a:rPr>
              <a:t>JMS 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4736592"/>
            <a:ext cx="4937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CONSUME-ONLY. Subscribes InvoiceTopic + OrderStatusTopic (emails) and the DLQ + ExpiryQueue (ERROR-log observer). Publishes nothing.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806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Legacy mapping: the Mail*MDB beans → one notification service; also closes the DLQ 'black hole'.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Code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C5D3E6"/>
                </a:solidFill>
                <a:latin typeface="Calibri"/>
              </a:rPr>
              <a:t>Live in the repo — the slides mirror the files, open the real code alongside.</a:t>
            </a:r>
          </a:p>
          <a:p>
            <a:pPr algn="l"/>
            <a:r>
              <a:rPr sz="1400" b="0">
                <a:solidFill>
                  <a:srgbClr val="9DB4D4"/>
                </a:solidFill>
                <a:latin typeface="Calibri"/>
              </a:rPr>
              <a:t>1) JMS contract  2) Anti-Corruption / envelope  3) checkout intake  4) pessimistic-lock fulfilment  5) restock re-drive  6) transactional outbox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Walkthrough 1 — The JMS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One shared library defines every destination; producers/consumers import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1247120" cy="3246120"/>
          </a:xfrm>
          <a:prstGeom prst="rect">
            <a:avLst/>
          </a:prstGeom>
          <a:solidFill>
            <a:srgbClr val="1E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3502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FB5F5"/>
                </a:solidFill>
                <a:latin typeface="Consolas"/>
              </a:rPr>
              <a:t>petstore-messaging/src/com/petstore/messaging/Destinations.java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1097280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public static final String PURCHASE_ORDER_NAME = "PurchaseOrderQueue";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public static final String APPROVED_ORDER_NAME = "ApprovedOrderQueue";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public static final String INVOICE_NAME        = "InvoiceTopic";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public static final String ORDER_STATUS_NAME   = "OrderStatusTopic";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public static final String RESTOCK_NAME        = "RestockTopic";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public static final Destination APPROVED_ORDER = queue(APPROVED_ORDER_NAME);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public static final Destination INVOICE        = topic(INVOICE_NAME);   // pub/sub fan-out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public static final Destination RESTOCK        = topic(RESTOCK_NAME);   // H2 re-drive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091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Single source of truth — no service hard-codes a destination string.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queue() = point-to-point (one consumer) · topic() = fan-out (legacy InvoiceTopic preserved).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2 queues + 3 topics; DLQ + ExpiryQueue are broker-managed safety nets.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Walkthrough 2 — Checkout Intake (sync REST)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Storefront hands the order to OPC over REST; JWT proxied for authz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1247120" cy="2743200"/>
          </a:xfrm>
          <a:prstGeom prst="rect">
            <a:avLst/>
          </a:prstGeom>
          <a:solidFill>
            <a:srgbClr val="1E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3502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FB5F5"/>
                </a:solidFill>
                <a:latin typeface="Consolas"/>
              </a:rPr>
              <a:t>petstore-app-v1/src/com/petstore/order/service/OrderService.java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List&lt;CartItem&gt; items = cart.getItems();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if (items.isEmpty()) throw new EmptyCartException();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2F8F46"/>
                </a:solidFill>
                <a:latin typeface="Consolas"/>
              </a:rPr>
              <a:t>// LOCALE = Locale.US, CURRENCY = "USD" (legacy quirk — UI locale does not flow in)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CheckoutRequest request = new CheckoutRequest(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  orderId, userId, emailId, LOCALE, CURRENCY, total, lines, toDto(shipTo), toDto(billTo));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try {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    response = orderProcessing.checkout(request, bearer); // POST /api/orders/intake, JWT fwd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} catch (RestClientException e) {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B23A48"/>
                </a:solidFill>
                <a:latin typeface="Consolas"/>
              </a:rPr>
              <a:t>    throw new OrderIntakeUnavailableException(...); // OPC down → 503, cart NOT emptied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}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cart.empty();   // only on success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51960"/>
            <a:ext cx="11247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Legacy published a PurchaseOrder XML fire-and-forget; we made intake synchronous so the shopper gets an immediate, authoritative result.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The storefront persists nothing — OPC is the authoritative order store (single writer).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•  PurchaseOrderQueue listener is kept as an alternate async intake path (contract unchanged).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Walkthrough 3 — Oversell 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sanctioned technical fix: pessimistic row lock replaces the EJB container lock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1247120" cy="2606040"/>
          </a:xfrm>
          <a:prstGeom prst="rect">
            <a:avLst/>
          </a:prstGeom>
          <a:solidFill>
            <a:srgbClr val="1E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3502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FB5F5"/>
                </a:solidFill>
                <a:latin typeface="Consolas"/>
              </a:rPr>
              <a:t>inventory-service/.../repository/jpa/InventoryJpaRepository.java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109728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@Lock(LockModeType.PESSIMISTIC_WRITE)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@Query("select i from InventoryEntity i where i.itemId = :itemId")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Optional&lt;InventoryEntity&gt; findByIdForUpdate(String itemId);  // SELECT … FOR UPDATE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@Modifying(flushAutomatically = true, clearAutomatically = true)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@Query("update InventoryEntity i set i.quantity = i.quantity + :qty where i.itemId = :itemId")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int increment(String itemId, int qty);   // additive restock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11480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check-and-decrement inside one @Transactional; DB CHECK (quantity &gt;= 0) is the floor.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F8F46"/>
                </a:solidFill>
                <a:latin typeface="Calibri"/>
              </a:rPr>
              <a:t>•  Verified with a 20-thread test: 5 stock → exactly 5 succeed, never negative.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Preserves the legacy observable outcome: one order ships, the other backorders (stays APPROVED).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Walkthrough 4 — Backorder Re-drive (H2)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Restore legacy processPendingPO without the legacy PENDING PO store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1247120" cy="3063240"/>
          </a:xfrm>
          <a:prstGeom prst="rect">
            <a:avLst/>
          </a:prstGeom>
          <a:solidFill>
            <a:srgbClr val="1E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3502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FB5F5"/>
                </a:solidFill>
                <a:latin typeface="Consolas"/>
              </a:rPr>
              <a:t>order-processing-service/app/.../messaging/RestockListener.java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1097280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@JmsListener(destination = Destinations.RESTOCK_NAME, containerFactory = "topicFactory",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           subscription = "opc-restock")   // durable shared subscription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@Transactional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public void onRestock(RestockEvent restock) {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  Correlation.set(restock.meta() == null ? null : restock.meta().correlationId());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2F8F46"/>
                </a:solidFill>
                <a:latin typeface="Consolas"/>
              </a:rPr>
              <a:t>    // AdminService: orderIdsByStatus(APPROVED) → sorted by created (oldest-first)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2F8F46"/>
                </a:solidFill>
                <a:latin typeface="Consolas"/>
              </a:rPr>
              <a:t>    //             → approvalGateway.dispatchForFulfilment(order) per order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  admin.redriveApprovedForFulfilment();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inventory publishes RestockEvent → RestockTopic when stock is added; OPC owns the order read-model and reacts.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F8F46"/>
                </a:solidFill>
                <a:latin typeface="Calibri"/>
              </a:rPr>
              <a:t>•  Idempotent end-to-end: inventory dedups by order_id (fulfilled_order ledger) — a re-driven order that already shipped never double-decrements.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•  Same observable behavior as legacy; no persisted supplier PO required (M8 kept).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Walkthrough 5 — Transactional Outbox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Order commit and 'approved' publish can't diverge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B23A48"/>
                </a:solidFill>
                <a:latin typeface="Calibri"/>
              </a:rPr>
              <a:t>•  Problem: if we persist the order then publish, a crash between them loses the message (or double-sends).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F3355"/>
                </a:solidFill>
                <a:latin typeface="Calibri"/>
              </a:rPr>
              <a:t>•  Fix: write the outgoing event into an outbox row in the SAME DB transaction as the order; a relay polls and publishes, marking rows sent. Publish is now exactly-effectively-once.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00400"/>
            <a:ext cx="11247120" cy="2194560"/>
          </a:xfrm>
          <a:prstGeom prst="rect">
            <a:avLst/>
          </a:prstGeom>
          <a:solidFill>
            <a:srgbClr val="1E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325526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FB5F5"/>
                </a:solidFill>
                <a:latin typeface="Consolas"/>
              </a:rPr>
              <a:t>order-processing-service/app/.../service/  (AdminService · ApprovalGateway · OutboxRelay)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584448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@Transactional                                     // ONE atomic unit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void applyStatusChange(orderId, APPROVED) {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  orders.updateStatus(orderId, APPROVED);         // order row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    approvalGateway.dispatchForFulfilment(order);   // → OutboxWriter.enqueue(...) — SAME tx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    statusGateway.announce(order, APPROVED);        // → OutboxWriter.enqueue(...) — SAME tx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}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2F8F46"/>
                </a:solidFill>
                <a:latin typeface="Consolas"/>
              </a:rPr>
              <a:t>// @Scheduled OutboxRelay polls unsent rows → MessagePublisher → marks published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532120"/>
            <a:ext cx="112471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Gateways NEVER publish to JMS directly — they append to the outbox table in-transaction, so a rolled-back order emits nothing and a committed one always eventually does. At-least-once relay is safe: fixed eventId + idempotent consumers. @Version optimistic lock stops an approve+deny race (→ 409); the Mongo adapter keeps outbox + @Version via multi-document transactions (rs0).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MongoDB Stretch — DONE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Ports made the DB swap additive — zero change to domain / services /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943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>
                <a:solidFill>
                  <a:srgbClr val="1F3355"/>
                </a:solidFill>
                <a:latin typeface="Calibri"/>
              </a:rPr>
              <a:t>•  Profile-selectable: @Profile("mongo") vs @Profile("!mongo"); H2 stays the default.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2E6DB4"/>
                </a:solidFill>
                <a:latin typeface="Calibri"/>
              </a:rPr>
              <a:t>•  order-processing-service — fully wired: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MongoOrderStore + MongoOutboxStore adapters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multi-document transactions (outbox + order commit)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@Version optimistic lock + $jsonSchema validators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2E6DB4"/>
                </a:solidFill>
                <a:latin typeface="Calibri"/>
              </a:rPr>
              <a:t>•  catalog-service — Mongo adapter (3 collections, locale map embedded).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F8F46"/>
                </a:solidFill>
                <a:latin typeface="Calibri"/>
              </a:rPr>
              <a:t>•  Testcontainers mongo:7 parity tests on both.</a:t>
            </a:r>
          </a:p>
        </p:txBody>
      </p:sp>
      <p:sp>
        <p:nvSpPr>
          <p:cNvPr id="6" name="Rectangle 5"/>
          <p:cNvSpPr/>
          <p:nvPr/>
        </p:nvSpPr>
        <p:spPr>
          <a:xfrm>
            <a:off x="6629400" y="1371600"/>
            <a:ext cx="5120640" cy="42062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150876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3355"/>
                </a:solidFill>
                <a:latin typeface="Calibri"/>
              </a:rPr>
              <a:t>Why it was cheap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2057400"/>
            <a:ext cx="46634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The domain talks to a port (OrderStore / OutboxStore), not to JPA.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Mongo is just another adapter behind the same interface.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•  Run it: OPC_STORE=mongo ./run-all.sh (docker-compose brings up mongo + mongo-express).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F8F46"/>
                </a:solidFill>
                <a:latin typeface="Calibri"/>
              </a:rPr>
              <a:t>•  This is the payoff of hexagonal boundaries chosen up front.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What the playback should take away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 b="1">
                <a:solidFill>
                  <a:srgbClr val="2E6DB4"/>
                </a:solidFill>
                <a:latin typeface="Calibri"/>
              </a:rPr>
              <a:t>•  The approach de-risked a large migration: Strangler Fig + characterization tests + ports/adapters.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•  Every legacy construct has a deliberate modern mapping — nothing dropped by accident.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•  Messages moved XML → JSON behind an Anti-Corruption Layer, guarded by golden-file tests.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•  A file-by-file parity audit found 21 drifts; all resolved or explicitly kept with an ADR.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B23A48"/>
                </a:solidFill>
                <a:latin typeface="Calibri"/>
              </a:rPr>
              <a:t>•  Live e2e testing caught two bugs unit tests missed — the safety net earned its keep.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2F8F46"/>
                </a:solidFill>
                <a:latin typeface="Calibri"/>
              </a:rPr>
              <a:t>•  Stretch goal delivered: MongoDB behind the same ports, at near-zero domain cost.</a:t>
            </a:r>
          </a:p>
          <a:p>
            <a:pPr>
              <a:spcAft>
                <a:spcPts val="700"/>
              </a:spcAft>
            </a:pPr>
            <a:r>
              <a:rPr sz="800" b="0">
                <a:solidFill>
                  <a:srgbClr val="1F3355"/>
                </a:solidFill>
                <a:latin typeface="Calibri"/>
              </a:rPr>
              <a:t>•  </a:t>
            </a:r>
          </a:p>
          <a:p>
            <a:pPr>
              <a:spcAft>
                <a:spcPts val="700"/>
              </a:spcAft>
            </a:pPr>
            <a:r>
              <a:rPr sz="2200" b="1">
                <a:solidFill>
                  <a:srgbClr val="1F3355"/>
                </a:solidFill>
                <a:latin typeface="Calibri"/>
              </a:rPr>
              <a:t>•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