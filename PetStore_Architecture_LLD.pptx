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91695" cy="54864"/>
          </a:xfrm>
          <a:prstGeom prst="rect">
            <a:avLst/>
          </a:prstGeom>
          <a:solidFill>
            <a:srgbClr val="C97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Java Pet Store 1.3.1_02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>
                <a:solidFill>
                  <a:srgbClr val="C5D3E6"/>
                </a:solidFill>
                <a:latin typeface="Calibri"/>
              </a:rPr>
              <a:t>Existing Architecture — Low-Level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Reverse-engineered from source as the baseline for a modernization migration</a:t>
            </a:r>
          </a:p>
          <a:p>
            <a:pPr algn="l"/>
            <a:r>
              <a:rPr sz="1400" b="0">
                <a:solidFill>
                  <a:srgbClr val="9DB4D4"/>
                </a:solidFill>
                <a:latin typeface="Calibri"/>
              </a:rPr>
              <a:t>J2EE 1.3 BluePrints  ·  4 enterprise apps  ·  19 components  ·  ~36k LOC  ·  EJB 2.x CMP  ·  JMS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What the system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035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F3355"/>
                </a:solidFill>
                <a:latin typeface="Calibri"/>
              </a:rPr>
              <a:t>•  A distributed J2EE 1.3 e-commerce system (Sun BluePrints, 2003).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F3355"/>
                </a:solidFill>
                <a:latin typeface="Calibri"/>
              </a:rPr>
              <a:t>•  Online pet store: catalog browse, cart, checkout, async order fulfilment, supplier integration, admin.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B23A48"/>
                </a:solidFill>
                <a:latin typeface="Calibri"/>
              </a:rPr>
              <a:t>•  It is NOT one application —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1F3355"/>
                </a:solidFill>
                <a:latin typeface="Calibri"/>
              </a:rPr>
              <a:t>–  4 separately-deployed .ear apps that talk asynchronously over JMS.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1F3355"/>
                </a:solidFill>
                <a:latin typeface="Calibri"/>
              </a:rPr>
              <a:t>–  They share a library of 19 reusable EJB components.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B23A48"/>
                </a:solidFill>
                <a:latin typeface="Calibri"/>
              </a:rPr>
              <a:t>–  Each app owns its own DB view; shared data travels as XML over JMS.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F3355"/>
                </a:solidFill>
                <a:latin typeface="Calibri"/>
              </a:rPr>
              <a:t>•  Persistence is split two ways: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1F3355"/>
                </a:solidFill>
                <a:latin typeface="Calibri"/>
              </a:rPr>
              <a:t>–  EJB 2.x CMP (container-generated) for most entities.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1F3355"/>
                </a:solidFill>
                <a:latin typeface="Calibri"/>
              </a:rPr>
              <a:t>–  One hand-written DAO (catalog) with a clean relational schema.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766560" y="1371600"/>
          <a:ext cx="49377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834640"/>
              </a:tblGrid>
              <a:tr h="39901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Deployable apps (.ear)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4 — petstore, opc, supplier, admin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Reusable components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19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Java source files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~309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Lines of Java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~36,000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JSP pages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98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EJB descriptors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Persistence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EJB 2.x CMP + 1 DAO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Database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Cloudscape (→ Derby)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Messaging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JMS point-to-point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3990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Runtime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Sun J2EE 1.3 RI, JDK 1.4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Application (Deployment)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4 apps coupled only through JMS queues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8229600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1F3355"/>
                </a:solidFill>
                <a:latin typeface="Consolas"/>
              </a:rPr>
              <a:t>Browser ─HTTP─▶  petstore.ear  (storefront)
                   WAF MainServlet → EJBControllerLocalEJB (session façade)
                   → catalog / cart / customer / signon components
                   checkout builds PurchaseOrder (XML)
                            │  jms/PurchaseOrderQueue
                            ▼
                 opc.ear  (Order Processing Center)
                   PurchaseOrderMDB → ProcessManager (workflow state)
                   large order → jms/OrderApprovalQueue ◀── admin approves
                   InvoiceMDB, Mail MDBs → jms/*MailQueue → mailer → email
                            │  jms/supplier  (forward PO as XML)
                            ▼
                 supplier.ear  (warehouse) — SupplierOrderMDB, Inventory
                            │  invoice (XML) ──▶ back to opc
                 petstoreadmin.ear  — Swing client (Java Web Start) → opc
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0" y="1371600"/>
            <a:ext cx="2880360" cy="48463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98280" y="1463040"/>
            <a:ext cx="265176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B23A48"/>
                </a:solidFill>
                <a:latin typeface="Calibri"/>
              </a:rPr>
              <a:t>KEY FACT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The only edges between the 4 apps are JMS queues:</a:t>
            </a:r>
          </a:p>
          <a:p>
            <a:pPr algn="l" lvl="1"/>
            <a:r>
              <a:rPr sz="1200" b="0">
                <a:solidFill>
                  <a:srgbClr val="2E6DB4"/>
                </a:solidFill>
                <a:latin typeface="Calibri"/>
              </a:rPr>
              <a:t>PurchaseOrderQueue</a:t>
            </a:r>
          </a:p>
          <a:p>
            <a:pPr algn="l" lvl="1"/>
            <a:r>
              <a:rPr sz="1200" b="0">
                <a:solidFill>
                  <a:srgbClr val="2E6DB4"/>
                </a:solidFill>
                <a:latin typeface="Calibri"/>
              </a:rPr>
              <a:t>OrderApprovalQueue</a:t>
            </a:r>
          </a:p>
          <a:p>
            <a:pPr algn="l" lvl="1"/>
            <a:r>
              <a:rPr sz="1200" b="0">
                <a:solidFill>
                  <a:srgbClr val="2E6DB4"/>
                </a:solidFill>
                <a:latin typeface="Calibri"/>
              </a:rPr>
              <a:t>supplier</a:t>
            </a:r>
          </a:p>
          <a:p>
            <a:pPr algn="l" lvl="1">
              <a:spcAft>
                <a:spcPts val="1000"/>
              </a:spcAft>
            </a:pPr>
            <a:r>
              <a:rPr sz="1200" b="0">
                <a:solidFill>
                  <a:srgbClr val="2E6DB4"/>
                </a:solidFill>
                <a:latin typeface="Calibri"/>
              </a:rPr>
              <a:t>*MailQueue</a:t>
            </a:r>
          </a:p>
          <a:p>
            <a:pPr algn="l"/>
            <a:r>
              <a:rPr sz="1300" b="0">
                <a:solidFill>
                  <a:srgbClr val="1F3355"/>
                </a:solidFill>
                <a:latin typeface="Calibri"/>
              </a:rPr>
              <a:t>This is database-per-service / distributed data — 2003's version of microservice data isolation.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Class-Level Design (by Bounded Context)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Service (blue) · Domain (purple) · Data access (amber) · Relational table (green) · CMP table (red) · JMS (dashed)</a:t>
            </a:r>
          </a:p>
        </p:txBody>
      </p:sp>
      <p:pic>
        <p:nvPicPr>
          <p:cNvPr id="5" name="Picture 4" descr="petstore_l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2379181"/>
            <a:ext cx="11521440" cy="29225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Service &amp; Business-Logic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Session beans, MDBs, and the WAF controllers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3444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5943600"/>
              </a:tblGrid>
              <a:tr h="5029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Class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Stereotype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methods / responsibility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MainServlet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Front controller (Servlet)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init(); doGet/doPost → doProcess()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EJBControllerLocalEJB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Session façade (stateful SB)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processEvent(Event): EventResponse + StateMachine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CatalogEJB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Session bean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getCategory, getProducts, getItem, searchItems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ShoppingCartLocalEJB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Stateful session bean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addItem, updateItemQuantity, deleteItem, getSubTotal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SignOnEJB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Session bean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authenticate(user,pwd): boolean; createUser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ProcessManagerEJB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Session bean (workflow)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createManager, updateStatus, getStatus, getOrdersByStatus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PurchaseOrderMDB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Message-driven bean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onMessage → persist PO, start workflow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OrderApprovalMDB / InvoiceMDB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Message-driven beans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approval / invoice transitions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SupplierOrderMDB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Message-driven bean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onMessage → fulfil PO, ship, invoice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Domain Model &amp; Data-Access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6B4FA0"/>
                </a:solidFill>
                <a:latin typeface="Calibri"/>
              </a:rPr>
              <a:t>Domain value objects (persistence-agnostic)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F3355"/>
                </a:solidFill>
                <a:latin typeface="Calibri"/>
              </a:rPr>
              <a:t>•  Catalog: Category, Product, Item, Page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F3355"/>
                </a:solidFill>
                <a:latin typeface="Calibri"/>
              </a:rPr>
              <a:t>•  Cart: Cart, CartItem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B23A48"/>
                </a:solidFill>
                <a:latin typeface="Calibri"/>
              </a:rPr>
              <a:t>•  Order: PurchaseOrder, LineItem  — marshalled to/from XML for JMS transport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71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97C2F"/>
                </a:solidFill>
                <a:latin typeface="Calibri"/>
              </a:rPr>
              <a:t>Data-access — two mechanisms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3383280"/>
          <a:ext cx="111556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5852160"/>
                <a:gridCol w="3200400"/>
              </a:tblGrid>
              <a:tr h="9144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Mechanism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Where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Components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Hand-written DAO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CatalogDAO (port) + Cloudscape/Generic adapters; SQL in CatalogDAOSQL.xml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catalog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EJB 2.x CMP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Abstract entity beans; container generates SQL from &lt;cmp-field&gt; in ejb-jar.xml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customer, account, profile, signon, creditcard, contactinfo, address, lineitem, purchaseorder, supplierpo, processmanager, uidgen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Data Model — Two Schema Styles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The single biggest migration surface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577840" cy="457200"/>
          </a:xfrm>
          <a:prstGeom prst="rect">
            <a:avLst/>
          </a:prstGeom>
          <a:solidFill>
            <a:srgbClr val="2F8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Catalog — hand-designed relational (clean)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Normalized; locale-split (base + _details per locale).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Real foreign keys, proper types (DECIMAL(10,2)).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F8F46"/>
                </a:solidFill>
                <a:latin typeface="Calibri"/>
              </a:rPr>
              <a:t>•  category → product → item hierarchy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–  category / category_details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–  product / product_details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–  item / item_details (price, attr1..5)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2F8F46"/>
                </a:solidFill>
                <a:latin typeface="Calibri"/>
              </a:rPr>
              <a:t>•  Migrates easily — already port/adapter shaped.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234440"/>
            <a:ext cx="5577840" cy="457200"/>
          </a:xfrm>
          <a:prstGeom prst="rect">
            <a:avLst/>
          </a:prstGeom>
          <a:solidFill>
            <a:srgbClr val="B2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28016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Everything else — CMP container-generated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Auto-generated from &lt;cmp-field&gt; (sun-j2ee-ri.xml).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Tell-tale: __PMPrimaryKey, __reverse_* FKs, all VARCHAR(255).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–  Customer: User/Customer/Account/Profile/ContactInfo/Address/CreditCard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–  Order: PurchaseOrder/LineItem(+join)/Manager</a:t>
            </a:r>
          </a:p>
          <a:p>
            <a:pPr lvl="1">
              <a:spcAft>
                <a:spcPts val="6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–  Supplier: SupplierOrder/Inventory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B23A48"/>
                </a:solidFill>
                <a:latin typeface="Calibri"/>
              </a:rPr>
              <a:t>•  ContactInfo/Address/CreditCard/LineItem DUPLICATED across all 3 apps.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F3355"/>
                </a:solidFill>
                <a:latin typeface="Calibri"/>
              </a:rPr>
              <a:t>•  Needs reverse-engineering + redesign + data-migration script.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Legacy Patterns → Modern Equivalents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What each 2003 construct becomes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3444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76072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Pet Store (2003)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Modern equivalent (Spring Boot / Java 21)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WAF MainServlet front controller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Spring MVC DispatcherServlet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EJBControllerLocalEJB + StateMachine + EJBAction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@Controller / @Service methods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EJB 2.x Local Home/Interface/Bean trios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plain @Service / @Component beans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CMP entity beans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JPA entities + Spring Data repositories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Catalog DAO + CatalogDAOSQL.xml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Spring Data repository / JdbcTemplate adapter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ServiceLocator (JNDI caching)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Spring dependency injection (eliminated)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JMS + MDBs between 4 EARs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Spring events, or Kafka/RabbitMQ, or in-process (monolith)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xmldocuments (XML over JMS)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JSON DTOs / records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JSP + custom taglibs + WAF templates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Thymeleaf / React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Cloudscape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H2 / PostgreSQL / MongoDB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Migration Implications &amp;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How to break up the work, de-risked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2E6DB4"/>
                </a:solidFill>
                <a:latin typeface="Calibri"/>
              </a:rPr>
              <a:t>•  Strategy: Strangler Fig — stand up the new system beside the old behind a façade; migrate one bounded context at a time; never big-bang.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F3355"/>
                </a:solidFill>
                <a:latin typeface="Calibri"/>
              </a:rPr>
              <a:t>•  Sequence by bounded context (leaf/low-risk first):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2F8F46"/>
                </a:solidFill>
                <a:latin typeface="Calibri"/>
              </a:rPr>
              <a:t>–  1. Catalog — clean schema, no inbound deps → proves the stack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F3355"/>
                </a:solidFill>
                <a:latin typeface="Calibri"/>
              </a:rPr>
              <a:t>–  2. Customer / SignOn — self-contained, security-sensitive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F3355"/>
                </a:solidFill>
                <a:latin typeface="Calibri"/>
              </a:rPr>
              <a:t>–  3. Cart — session state, depends on catalog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F3355"/>
                </a:solidFill>
                <a:latin typeface="Calibri"/>
              </a:rPr>
              <a:t>–  4. Order / PurchaseOrder — the rich aggregate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B23A48"/>
                </a:solidFill>
                <a:latin typeface="Calibri"/>
              </a:rPr>
              <a:t>–  5. OPC + Supplier fulfilment (JMS backbone) — migrate last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F3355"/>
                </a:solidFill>
                <a:latin typeface="Calibri"/>
              </a:rPr>
              <a:t>•  Principles that carry it: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F3355"/>
                </a:solidFill>
                <a:latin typeface="Calibri"/>
              </a:rPr>
              <a:t>–  Ports &amp; adapters at every infra boundary — DB/messaging swaps become additive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F3355"/>
                </a:solidFill>
                <a:latin typeface="Calibri"/>
              </a:rPr>
              <a:t>–  Framework-free domain model (POJOs/records)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F3355"/>
                </a:solidFill>
                <a:latin typeface="Calibri"/>
              </a:rPr>
              <a:t>–  Contract tests pin the external surface; parallel-run to compare old vs new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F3355"/>
                </a:solidFill>
                <a:latin typeface="Calibri"/>
              </a:rPr>
              <a:t>–  Automate the mechanical (javax→jakarta, boilerplate); humans review the semantic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F3355"/>
                </a:solidFill>
                <a:latin typeface="Calibri"/>
              </a:rPr>
              <a:t>–  Data migration is its own workstream: map schema, backfill, reconcile, reversible scripts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54864"/>
          </a:xfrm>
          <a:prstGeom prst="rect">
            <a:avLst/>
          </a:prstGeom>
          <a:solidFill>
            <a:srgbClr val="C97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Functional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5D3E6"/>
                </a:solidFill>
                <a:latin typeface="Calibri"/>
              </a:rPr>
              <a:t>Every use-case from the entry point — with the edge cases where it fails.</a:t>
            </a:r>
          </a:p>
          <a:p>
            <a:pPr algn="l"/>
            <a:r>
              <a:rPr sz="1400" b="0">
                <a:solidFill>
                  <a:srgbClr val="9DB4D4"/>
                </a:solidFill>
                <a:latin typeface="Calibri"/>
              </a:rPr>
              <a:t>This is the behavioural contract the characterization tests must pin before migrating.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Entry Point &amp; Request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Everything enters through ONE servlet — MainServlet (*.do)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949440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3355"/>
                </a:solidFill>
                <a:latin typeface="Consolas"/>
              </a:rPr>
              <a:t>Browser  GET/POST *.do
   │
   ▼
MainServlet.doProcess()          ← single front controller
   │  1. look up URL in mappings.xml
   │  2. if useFlowHandler → run FlowHandler
   │  3. RequestProcessor turns *.do into a WAF Event
   ▼
EJBControllerLocalEJB.processEvent()   (stateful session bean)
   │  StateMachine maps Event → EJBAction (command)
   ▼
XxxEJBAction.perform(event)      ← business logic, calls component EJBs
   │  returns EventResponse
   ▼
ScreenFlowManager                ← next JSP screen
   │  on exception → exception-mapping → error screen
   ▼
JSP screen rendered back to browser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0" y="1371600"/>
            <a:ext cx="4114800" cy="457200"/>
          </a:xfrm>
          <a:prstGeom prst="rect">
            <a:avLst/>
          </a:prstGeom>
          <a:solidFill>
            <a:srgbClr val="B2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41732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Exception routes (the edge-case map)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680960" y="1965960"/>
          <a:ext cx="41148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</a:tblGrid>
              <a:tr h="411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Exception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→ Screen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ShoppingCartEmptyOrder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cart_empty_order_error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DuplicateAccount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duplicate_account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GeneralFailure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error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680960" y="3931920"/>
            <a:ext cx="41148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URL→screen and Event→EJBAction wiring lives entirely in mappings.xml (data, not code).</a:t>
            </a:r>
          </a:p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No per-page servlets — one controller, declarative flow.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Use-Cases 1–3: Browse · Sign-On · Register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Entry → behaviour → failure edge cases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188720"/>
          <a:ext cx="1152144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657600"/>
                <a:gridCol w="4937760"/>
              </a:tblGrid>
              <a:tr h="12801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Use-case (entry)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Happy path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Edge cases where it FAILS / surprises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Browse catalog</a:t>
                      </a:r>
                    </a:p>
                    <a:p>
                      <a:r>
                        <a:t>GET /category.do?id=CATS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CatalogEJB→DAO returns locale rows, paginated (Page)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Unknown id → EMPTY list, NOT 404 · start=9999 → empty · start&lt;0 → SQL error · DB down → error.screen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Sign on</a:t>
                      </a:r>
                    </a:p>
                    <a:p>
                      <a:r>
                        <a:t>POST /signon.do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authenticate(user,pwd)=true → session signed-on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Wrong pwd &amp; unknown user → SAME false (no distinction) · no lockout/counter · userName case-sensitive (Jane≠jane)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Register account</a:t>
                      </a:r>
                    </a:p>
                    <a:p>
                      <a:r>
                        <a:t>POST /createcustomer.do (FlowHandler)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Creates Customer→Account→Profile→ContactInfo→Address graph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Duplicate username → DuplicateAccountException → duplicate_account.screen · partial create rolls back (CMP tx) · weak field validation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Use-Case 4: Shopping Cart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Richest edge cases — source-confirmed behaviour that must be preserved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188720"/>
          <a:ext cx="1152144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840480"/>
                <a:gridCol w="5303520"/>
              </a:tblGrid>
              <a:tr h="7315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Operation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Actual code behaviour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Gotcha / failure edge case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ADD_ITEM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cart.put(itemID, 1)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Re-adding an item RESETS qty to 1 — does NOT increment. 'Fixing' this breaks the contract.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UPDATE_ITEMS qty&gt;0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remove then put(qty)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Sets absolute quantity ✓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UPDATE_ITEMS qty≤0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remove, does NOT re-add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SILENTLY deletes the line item. Not an error.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UPDATE unknown itemId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put a line for it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Item not in catalog → getSubTotal later throws (dangling ref)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getSubTotal()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loops items; calls CatalogHelper.getItem PER line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Item removed from catalog but still in cart → CatalogException → subtotal fails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Session timeout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stateful bean destroyed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Cart silently empties. Migration to @SessionScope must reproduce; singleton would leak carts across users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Use-Cases 5–6: Checkout &amp; Fulfilment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The async JMS workflow — at-least-once delivery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188720"/>
          <a:ext cx="1152144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206240"/>
                <a:gridCol w="4937760"/>
              </a:tblGrid>
              <a:tr h="102412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Step (entry)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Behaviour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Edge case where it fails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Checkout</a:t>
                      </a:r>
                    </a:p>
                    <a:p>
                      <a:r>
                        <a:t>POST /order.do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PO built from cart+customer → XML → jms/PurchaseOrderQueue → order_complete.screen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Empty cart → ShoppingCartEmptyOrderException → error screen · not signed on → blocked by filter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OPC consumes PO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PurchaseOrderMDB → ProcessManager status PENDING; large order → OrderApprovalQueue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JMS broker down → enqueue fails, NO order created · duplicate redelivery → MDB must be IDEMPOTENT (no double order)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Supplier fulfilment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SupplierOrderMDB decrements InventoryEJB, ships, returns Invoice (XML)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Concurrent orders for last unit → inventory race · Invoice for unknown orderId → no manager row → silent drop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Notifications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Mail MDBs send confirmation email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Mail server down → redelivery → must not double-send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Use-Cases 7–8 &amp; Cross-Cutting Failures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E6DB4"/>
                </a:solidFill>
                <a:latin typeface="Calibri"/>
              </a:rPr>
              <a:t>Locale · Sign-off · Admin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554480"/>
          <a:ext cx="114300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931920"/>
                <a:gridCol w="4572000"/>
              </a:tblGrid>
              <a:tr h="4800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Use-case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Behaviour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Edge case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changelocale.do?locale=ja_JP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FlowHandler sets session locale; re-renders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Unsupported locale (no _details rows) → blank/fallback text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signoff.do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Invalidate session → signoff.screen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Cart LOST on signoff (stateful bean destroyed) — intended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Admin (petstoreadmin.ear)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Swing/JWS client → approve orders via OPC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Java Web Start WON'T launch on modern JVMs · re-approve shipped order must be idempotent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B23A48"/>
                </a:solidFill>
                <a:latin typeface="Calibri"/>
              </a:rPr>
              <a:t>Cross-cutting failure modes (every use-case)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069080"/>
            <a:ext cx="11155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•  DB (Cloudscape) unreachable → *DAOSysException / EJBException → GeneralFailureException → error.screen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•  JMS broker down → async steps stall; user-facing enqueue → error.screen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•  Session loss/timeout → stateful cart &amp; sign-on vanish → bounced to signon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•  Malformed XML message (xmldocuments) → MDB onMessage throws → JMS redelivery loop (poison message) unless a DLQ exists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•  Locale with no _details rows → blank/fallback text, never an error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Dangerous Edge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The behaviours an agent (or human) will 'accidentally fix' — and break the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155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F3355"/>
                </a:solidFill>
                <a:latin typeface="Calibri"/>
              </a:rPr>
              <a:t>•  These MUST be pinned by characterization tests before migrating (CLAUDE.md §4, forbidden shortcuts #1 &amp; #10):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B23A48"/>
                </a:solidFill>
                <a:latin typeface="Calibri"/>
              </a:rPr>
              <a:t>–  addItem RESETS quantity to 1 — does not increment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B23A48"/>
                </a:solidFill>
                <a:latin typeface="Calibri"/>
              </a:rPr>
              <a:t>–  updateItemQuantity(qty ≤ 0) silently DELETES the line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B23A48"/>
                </a:solidFill>
                <a:latin typeface="Calibri"/>
              </a:rPr>
              <a:t>–  getSubTotal SILENTLY SKIPS items removed from the catalog (does NOT throw)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B23A48"/>
                </a:solidFill>
                <a:latin typeface="Calibri"/>
              </a:rPr>
              <a:t>–  Unknown catalog id returns EMPTY, not 404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B23A48"/>
                </a:solidFill>
                <a:latin typeface="Calibri"/>
              </a:rPr>
              <a:t>–  Checkout must be IDEMPOTENT under JMS redelivery (no double order)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B23A48"/>
                </a:solidFill>
                <a:latin typeface="Calibri"/>
              </a:rPr>
              <a:t>–  Sign-on does NOT distinguish bad-password from unknown-user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486400"/>
            <a:ext cx="11064240" cy="8686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577840"/>
            <a:ext cx="106984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F3355"/>
                </a:solidFill>
                <a:latin typeface="Calibri"/>
              </a:rPr>
              <a:t>Rule: pin behaviour AS-IS (including quirks). Migrate → run tests → green before commit. Never weaken a test to make it pass; never 'improve' behaviour during migration — parity first.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Complete API Inventory (all 4 apps)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Verified by full source scan — synchronous HTTP + SOAP endpoints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88720"/>
          <a:ext cx="1161288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737360"/>
                <a:gridCol w="4023360"/>
                <a:gridCol w="4663440"/>
              </a:tblGrid>
              <a:tr h="65151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Endpoint / API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 &amp; edge case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petstore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HTTP *.do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cart · order · signon · createcustomer · customer · changelocale · signoff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Storefront (see use-case slides). Front controller MainServlet.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petstore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Servlet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/Populate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Bootstraps catalog + accounts from XML; ~15 params (action, credit_card_*, forcefully). Re-run w/o forcefully → skips if data exists.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petstore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Filter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SignOnFilter (protected)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Guards customer.do/.screen, enter_order_information.screen, signon_welcome.screen → redirect to signon, replay original URL.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opc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SOAP (JAX-RPC)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OPCService.submitInvoice(Source)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Receives supplier invoice as XML. Bad XML → InvalidInvoiceException. This is a web-service variant of the app.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supplier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SOAP (JAX-RPC)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SupplierService.submitOrder(Source); queryOrderStatus(id)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Receive PO / query status. Bad order → InvalidOrderException; unknown id → UnknownOrderIdException.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supplier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Servlet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/RcvrRequestProcessor · /Populate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Inventory display &amp; receive; seed inventory.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admin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Servlet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/AdminRequestProcessor · /ApplRequestProcessor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Back-office order approval UI. Also a Swing/JWS client — WON'T launch on modern JVMs.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Async APIs — 8 MDBs &amp; JMS Destinations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The message-driven surface (verified: 8 MDBs, queues + one Topic)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188720"/>
          <a:ext cx="1152144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188720"/>
                <a:gridCol w="3017520"/>
                <a:gridCol w="4572000"/>
              </a:tblGrid>
              <a:tr h="4368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MDB (consumer)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Destination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PurchaseOrderMDB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opc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jms/PurchaseOrderQueue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Consume checkout PO → ProcessManager PENDING; route large orders to approval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OrderApprovalMDB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opc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jms/OrderApprovalQueue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Apply admin approve/deny → next transition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InvoiceMDB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opc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jms/InvoiceTopic (pub/sub)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Supplier invoice → status SHIPPED. NOTE: a Topic (fan-out), not a queue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MailCompletedOrderMDB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opc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jms/CompletedOrderMailQueue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Email order-complete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MailInvoiceMDB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opc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jms/MailQueue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Email invoice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MailOrderApprovalMDB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opc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jms/OrderApprovalMailQueue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Email approval outcome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SupplierOrderMDB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supplier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(ejb-jar dest)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Fulfil PO, decrement InventoryEJB, ship, return invoice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MailerMDB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jms/MailQueue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Generic mail sender (shared)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20040" y="5257800"/>
            <a:ext cx="11521440" cy="10515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5349240"/>
            <a:ext cx="11155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F3355"/>
                </a:solidFill>
                <a:latin typeface="Calibri"/>
              </a:rPr>
              <a:t>Async edge cases (all MDBs): at-least-once delivery → onMessage must be IDEMPOTENT (re-delivery must not double-process). Malformed XML → onMessage throws → redelivery loop / poison message unless a DLQ exists. InvoiceTopic fan-out means multiple subscribers may each react — order of side-effects matters.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Per-Endpoint Data Flow — DB &amp; JMS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What each endpoint WRITES and what it EMITS (source-verified)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70432"/>
          <a:ext cx="11658600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200400"/>
                <a:gridCol w="2651760"/>
                <a:gridCol w="2697480"/>
              </a:tblGrid>
              <a:tr h="438150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Endpoint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DB written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JMS emitted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Edge / note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GET category/product/item/search.do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— (reads catalog tables)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Unknown id → empty, not 404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POST signon.do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— (reads UserEJBTable)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authenticate() reads only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POST createcustomer.do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User, Customer, Account, Profile, ContactInfo, Address, CreditCard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Dup username → DuplicateAccount; whole graph rolls back (1 tx)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POST customer.do (update)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Account, ContactInfo, Address, CreditCard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Protected URL (sign-on required)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cart.do (add/delete/update)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NONE — in-memory session bean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No DB touch; lost on timeout/signoff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POST order.do (checkout)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NONE directly (Counter++ for order id)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→ jms/AsyncSenderQueue (PO as XML)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Empty cart → exception before send; order NOT persisted here; cart emptied after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changelocale.do / signoff.do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Session state only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GET /Populate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ALL catalog + sample account tables (bulk)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forcefully=true re-seeds; else skips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SupplierService.submitOrder (SOAP)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Inventory (--), SupplierOrder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→ jms/opc/InvoiceTopic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Bad order → InvalidOrderException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OPCService.submitInvoice (SOAP)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Manager (status)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→ mail queue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Bad XML → InvalidInvoiceException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admin /AdminRequestProcessor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reads Manager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→ approval (drives OrderApprovalMDB)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Re-approve shipped order must be idempotent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Async Write-Chain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Order persistence is entirely async — no HTTP request writes order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7955279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1F3355"/>
                </a:solidFill>
                <a:latin typeface="Consolas"/>
              </a:rPr>
              <a:t>order.do ──JMS──▶ AsyncSenderQueue ──▶ jms/PurchaseOrderQueue
  (writes: Counter++)                        │
                                             ▼  PurchaseOrderMDB
                    WRITES: PurchaseOrder, LineItem, ContactInfo,
                            Address, CreditCard, Manager(status=PENDING)
                                             │
                     ┌───────────────────────┴─── large order?
            yes ▼ jms/OrderApprovalQueue          no ▼ → supplier
        OrderApprovalMDB                     SupplierOrderMDB
        UPDATES: Manager(APPROVED)           WRITES: Inventory--, SupplierOrder
                 │                                   │
                 ▼ OrderApprovalMailQueue            ▼ jms/opc/InvoiceTopic  (pub/sub!)
                                             InvoiceMDB
                                             UPDATES: Manager(SHIPPED)
                                                   │
                                                   ▼ CompletedOrderMailQueue ─▶ MailQueue ─▶ email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8503920" y="1280160"/>
            <a:ext cx="3337560" cy="50292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1371600"/>
            <a:ext cx="31089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B23A48"/>
                </a:solidFill>
                <a:latin typeface="Calibri"/>
              </a:rPr>
              <a:t>Migration-critical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1F3355"/>
                </a:solidFill>
                <a:latin typeface="Calibri"/>
              </a:rPr>
              <a:t>Write-side is entirely async — checkout is fire-and-forget. Making it synchronous changes the consistency model (ADR).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1F3355"/>
                </a:solidFill>
                <a:latin typeface="Calibri"/>
              </a:rPr>
              <a:t>ManagerEJBTable is written by 3 MDBs (create/approve/invoice) → consolidate behind one OrderStatusService.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1F3355"/>
                </a:solidFill>
                <a:latin typeface="Calibri"/>
              </a:rPr>
              <a:t>Invoice is a TOPIC (fan-out), not a queue — switching to point-to-point changes delivery semantics.</a:t>
            </a:r>
          </a:p>
          <a:p>
            <a:pPr algn="l"/>
            <a:r>
              <a:rPr sz="1150" b="0">
                <a:solidFill>
                  <a:srgbClr val="1F3355"/>
                </a:solidFill>
                <a:latin typeface="Calibri"/>
              </a:rPr>
              <a:t>Every MDB write is exposed to at-least-once redelivery → must be idempotent (characterization tests assert this).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54864"/>
          </a:xfrm>
          <a:prstGeom prst="rect">
            <a:avLst/>
          </a:prstGeom>
          <a:solidFill>
            <a:srgbClr val="C97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API Split-Up by Actor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5D3E6"/>
                </a:solidFill>
                <a:latin typeface="Calibri"/>
              </a:rPr>
              <a:t>Every endpoint segregated by WHO uses it — the target service boundary.</a:t>
            </a:r>
          </a:p>
          <a:p>
            <a:pPr algn="l"/>
            <a:r>
              <a:rPr sz="1400" b="0">
                <a:solidFill>
                  <a:srgbClr val="9DB4D4"/>
                </a:solidFill>
                <a:latin typeface="Calibri"/>
              </a:rPr>
              <a:t>Customer · Supplier staff · Internal/Admin · System↔System · Ops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Four Applications — Who Runs Each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566160"/>
                <a:gridCol w="4389120"/>
              </a:tblGrid>
              <a:tr h="58521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 (.ear)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Primary user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it is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petstore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End customers (public)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The storefront web app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opc — Order Processing Center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System (no human)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Async order-workflow backend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supplier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Warehouse/supplier staff + OPC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Fulfilment app + supplier integration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admin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Internal staff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Back-office order approval console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663440"/>
            <a:ext cx="111556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2E6DB4"/>
                </a:solidFill>
                <a:latin typeface="Calibri"/>
              </a:rPr>
              <a:t>Key: the actor segregation IS the target service boundary.</a:t>
            </a:r>
          </a:p>
          <a:p>
            <a:pPr algn="l"/>
            <a:r>
              <a:rPr sz="1300" b="0">
                <a:solidFill>
                  <a:srgbClr val="1F3355"/>
                </a:solidFill>
                <a:latin typeface="Calibri"/>
              </a:rPr>
              <a:t>Only petstore is public. OPC is pure backend. Supplier &amp; admin are staff/system-facing. Inter-app hops (JMS/SOAP) have no human user at all.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1 · Customer-Facing Endpoints (petstore.ear)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Public storefront — browse is anonymous; checkout/profile require login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F8F46"/>
                </a:solidFill>
                <a:latin typeface="Calibri"/>
              </a:rPr>
              <a:t>Browse (anonymous) — *.screen GET URLs via WAF + CatalogEJB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481328"/>
          <a:ext cx="114300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  <a:gridCol w="1188720"/>
                <a:gridCol w="3840480"/>
              </a:tblGrid>
              <a:tr h="4343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Endpoint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Login?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main.screen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Home page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category.screen?category_id · product.screen?product_id · item.screen?item_id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Drill down catalog hierarchy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search.screen?keywords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Search catalog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34290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E6DB4"/>
                </a:solidFill>
                <a:latin typeface="Calibri"/>
              </a:rPr>
              <a:t>Actions — *.do state changes via MainServlet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3767328"/>
          <a:ext cx="114300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  <a:gridCol w="1188720"/>
                <a:gridCol w="3840480"/>
              </a:tblGrid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Endpoint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Login?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cart.do (add/delete/update)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Manage cart (in-memory, no DB)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signon.do · createuser.do · createcustomer.do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Authenticate / register account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changelocale.do · signoff.do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Switch language / log out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customer.do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View/edit own profile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order.do (checkout)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Place order → emits to JMS (no direct DB write)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2–3 · Supplier, Admin &amp; Ops Endpoints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97C2F"/>
                </a:solidFill>
                <a:latin typeface="Calibri"/>
              </a:rPr>
              <a:t>Supplier-facing (supplier.ear)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463040"/>
          <a:ext cx="114300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/>
                <a:gridCol w="2377440"/>
                <a:gridCol w="4114800"/>
              </a:tblGrid>
              <a:tr h="43434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Endpoint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Actor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/RcvrRequestProcessor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Warehouse staff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View pending supplier orders, trigger shipment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SupplierService.submitOrder / queryOrderStatus (SOAP)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OPC (system)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Receive PO to fulfil / query status — web-services variant only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/Populate (supplier)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Ops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Seed inventory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33832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6B4FA0"/>
                </a:solidFill>
                <a:latin typeface="Calibri"/>
              </a:rPr>
              <a:t>Admin / back-office (admin.ear)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3703320"/>
          <a:ext cx="11430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/>
                <a:gridCol w="2377440"/>
                <a:gridCol w="4114800"/>
              </a:tblGrid>
              <a:tr h="45720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Endpoint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Actor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/AdminRequestProcessor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Internal staff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Review &amp; approve/deny large orders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/ApplRequestProcessor + Swing/JWS client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Internal staff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Rich admin UI — WON'T launch on modern JVMs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52578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55555"/>
                </a:solidFill>
                <a:latin typeface="Calibri"/>
              </a:rPr>
              <a:t>Ops / setup (one-time)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5577840"/>
          <a:ext cx="11430000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/>
                <a:gridCol w="2377440"/>
                <a:gridCol w="4114800"/>
              </a:tblGrid>
              <a:tr h="3886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Endpoint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Actor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/Populate (petstore)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Operator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Seed catalog + sample accounts from XML → becomes Flyway/data.sql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4 · System↔System Endpoints (no human user)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The inter-app integration seams — customer never touches these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80160"/>
          <a:ext cx="11430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2743200"/>
                <a:gridCol w="1645920"/>
                <a:gridCol w="3200400"/>
              </a:tblGrid>
              <a:tr h="52251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Channel / endpoint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Producer → Consumer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Transport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AsyncSenderQueue → PurchaseOrderQueue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petstore → OPC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JMS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Deliver checkout PO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OrderApprovalQueue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OPC → OPC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JMS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Route large order to approval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jms/opc/InvoiceTopic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Supplier → OPC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JMS Topic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Return invoice (order shipped) — fan-out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jms/*MailQueue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OPC → Mailer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JMS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Trigger notification emails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OPCService.submitInvoice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Supplier → OPC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SOAP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Return invoice — web-services variant of InvoiceTopic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SupplierService.submitOrder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OPC → Supplier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SOAP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Send PO — web-services variant of supplier queue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65760" y="5120640"/>
            <a:ext cx="11430000" cy="11887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212080"/>
            <a:ext cx="110642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F3355"/>
                </a:solidFill>
                <a:latin typeface="Calibri"/>
              </a:rPr>
              <a:t>The standard build uses JMS for these hops; the web-services build uses SOAP for the same flow. MIGRATE ONE TRANSPORT, NOT BOTH. These three contracts — submitOrder / submitInvoice / queryOrderStatus — become the inter-service API (REST or events).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Target Split — Actor Boundary → New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The actor segregation becomes the Spring Boot module/service map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47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846320"/>
                <a:gridCol w="4114800"/>
              </a:tblGrid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Actor group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 module (Spring Boot / Java 21)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Migration note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Customer (public)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Public REST/web module: browse + cart + checkout + account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Migrate first after catalog; most traffic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Supplier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Fulfilment service with inbound 'receive order' endpoint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submitOrder/queryOrderStatus = inter-service contract (REST or events)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Admin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Internal REST admin endpoints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Swing/JWS client is REPLACED, not migrated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System↔System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In-process Spring events (monolith) OR message broker (services)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Collapse JMS+SOAP hops; migrate ONE transport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Ops/setup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Flyway / data.sql seeding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/Populate is NOT a runtime endpoint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39496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F3355"/>
                </a:solidFill>
                <a:latin typeface="Calibri"/>
              </a:rPr>
              <a:t>Bottom line: 'who uses it' defines the module boundary. Public/staff/system/ops separation maps cleanly onto bounded contexts — and tells you migration order (customer path first, admin last).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How JMS Communicates Between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Sender &amp; receiver never know each other — coupled only by a logical destination name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E6DB4"/>
                </a:solidFill>
                <a:latin typeface="Calibri"/>
              </a:rPr>
              <a:t>1 · Sender puts an XML message on a named destination (AsyncSenderEJB)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81328"/>
            <a:ext cx="1115568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3355"/>
                </a:solidFill>
                <a:latin typeface="Consolas"/>
              </a:rPr>
              <a:t>qConnect = qFactory.createQueueConnection();
session  = qConnect.createQueueSession(true, 0);   // true = transacted → at-least-once
qSender  = session.createSender(q);
TextMessage jmsMsg = session.createTextMessage();
jmsMsg.setText(purchaseOrder.toXML());             // payload = PO as XML
qSender.send(jmsMsg);                              // fire-and-forget, no reply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06324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F8F46"/>
                </a:solidFill>
                <a:latin typeface="Calibri"/>
              </a:rPr>
              <a:t>2 · Destination found via JNDI — never hardcoded (the decoupling)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01568"/>
            <a:ext cx="111556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3355"/>
                </a:solidFill>
                <a:latin typeface="Consolas"/>
              </a:rPr>
              <a:t>ASYNC_SENDER_QUEUE = "java:comp/env/jms/AsyncSenderQueue";   // logical alias
q = serviceLocator.getQueue(ASYNC_SENDER_QUEUE);            // resolved at runtime
// server config (setup.xml) maps alias → physical queue → binds the consuming MDB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5262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C97C2F"/>
                </a:solidFill>
                <a:latin typeface="Calibri"/>
              </a:rPr>
              <a:t>3 · Receiver (MDB) reacts automatically — container calls onMessage()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64608"/>
            <a:ext cx="111556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3355"/>
                </a:solidFill>
                <a:latin typeface="Consolas"/>
              </a:rPr>
              <a:t>public void onMessage(Message recvMsg) {           // no polling — event-driven
    String xml = ((TextMessage) recvMsg).getText();
    approval = doWork(xml);       // parse PO, persist to DB, set status
    if (approval != null) doTransition(approval);  // fire the NEXT message
}   // binding declared in ejb-jar.xml: &lt;resource-env-ref-name&gt;jms/PurchaseOrderQueue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JMS Patterns &amp; End-to-End Conversation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Both point-to-point (Queue) and publish/subscribe (Topic) are used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34440"/>
          <a:ext cx="54864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737360"/>
                <a:gridCol w="2194560"/>
              </a:tblGrid>
              <a:tr h="5791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Pattern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Class / call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Used for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Point-to-Point</a:t>
                      </a:r>
                    </a:p>
                    <a:p>
                      <a:r>
                        <a:t>(Queue)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QueueSender</a:t>
                      </a:r>
                    </a:p>
                    <a:p>
                      <a:r>
                        <a:t>.send()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PO, OrderApproval, Mail — ONE consumer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Pub/Sub</a:t>
                      </a:r>
                    </a:p>
                    <a:p>
                      <a:r>
                        <a:t>(Topic)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TopicSender</a:t>
                      </a:r>
                    </a:p>
                    <a:p>
                      <a:r>
                        <a:t>.publish()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InvoiceTopic — EVERY subscriber (fan-out)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26480" y="1234440"/>
            <a:ext cx="576072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1F3355"/>
                </a:solidFill>
                <a:latin typeface="Consolas"/>
              </a:rPr>
              <a:t>petstore              OPC                    supplier
────────              ───                    ────────
OrderAction
 send(PO xml)
    │ AsyncSenderQueue
    ▼
 [BROKER] ─▶ PurchaseOrderMDB.onMessage
               persist PO, status=PENDING
               send(PO) ──▶ supplier queue
                              │
                              ▼
                     SupplierOrderMDB.onMessage
                       Inventory--, ship
                       publish(invoice)
               InvoiceTopic ◀──┘ (pub/sub)
  InvoiceMDB.onMessage
    status=SHIPPED
    ─▶ MailQueue ─▶ MailerMDB ─▶ email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291840"/>
            <a:ext cx="548640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F3355"/>
                </a:solidFill>
                <a:latin typeface="Calibri"/>
              </a:rPr>
              <a:t>Why JMS (the properties it buys):</a:t>
            </a:r>
          </a:p>
          <a:p>
            <a:pPr algn="l" lvl="1"/>
            <a:r>
              <a:rPr sz="1200" b="0">
                <a:solidFill>
                  <a:srgbClr val="1F3355"/>
                </a:solidFill>
                <a:latin typeface="Calibri"/>
              </a:rPr>
              <a:t>Decoupling — apps share only a queue name; redeploy independently</a:t>
            </a:r>
          </a:p>
          <a:p>
            <a:pPr algn="l" lvl="1"/>
            <a:r>
              <a:rPr sz="1200" b="0">
                <a:solidFill>
                  <a:srgbClr val="1F3355"/>
                </a:solidFill>
                <a:latin typeface="Calibri"/>
              </a:rPr>
              <a:t>Async — checkout returns instantly; fulfilment happens later</a:t>
            </a:r>
          </a:p>
          <a:p>
            <a:pPr algn="l" lvl="1"/>
            <a:r>
              <a:rPr sz="1200" b="0">
                <a:solidFill>
                  <a:srgbClr val="1F3355"/>
                </a:solidFill>
                <a:latin typeface="Calibri"/>
              </a:rPr>
              <a:t>Reliable — transacted session → redelivery if MDB throws (at-least-once)</a:t>
            </a:r>
          </a:p>
          <a:p>
            <a:pPr algn="l" lvl="1"/>
            <a:r>
              <a:rPr sz="1200" b="0">
                <a:solidFill>
                  <a:srgbClr val="1F3355"/>
                </a:solidFill>
                <a:latin typeface="Calibri"/>
              </a:rPr>
              <a:t>Buffering — order spikes queue up; OPC drains at its own pace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JMS → Spring / Java 21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How the messaging translates in the migration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4712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6320"/>
                <a:gridCol w="6400800"/>
              </a:tblGrid>
              <a:tr h="50945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Pet Store JMS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Spring / Java 21 equivalent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AsyncSenderEJB.send() (queue)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JmsTemplate.convertAndSend() OR ApplicationEventPublisher.publishEvent()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@MDB onMessage() (queue)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@JmsListener OR @EventListener method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TopicSender.publish() (topic)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@JmsListener (topic factory) / Kafka topic / event to many listeners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JNDI destination lookup + ServiceLocator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application.yml connection config (ServiceLocator deleted)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XML TextMessage payload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JSON DTO / record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50945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transacted session (at-least-once)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@Transactional listener + idempotency key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5074920"/>
            <a:ext cx="11247120" cy="12344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166360"/>
            <a:ext cx="108813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1F3355"/>
                </a:solidFill>
                <a:latin typeface="Calibri"/>
              </a:rPr>
              <a:t>ADR decision: keep it truly async with a broker (Kafka/RabbitMQ + @JmsListener) if preserving the distributed topology — OR collapse to in-process Spring ApplicationEvents for a modular monolith. Either way, preserve the Topic fan-out for invoices and at-least-once idempotency (both in the characterization-test spec).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High-Level Flow — Apps, Endpoints &amp; APIs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Actors → apps → datastores · solid = sync (HTTP/SOAP) · dashed red = async (JMS)</a:t>
            </a:r>
          </a:p>
        </p:txBody>
      </p:sp>
      <p:pic>
        <p:nvPicPr>
          <p:cNvPr id="5" name="Picture 4" descr="petstore_highlevel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87" y="2354501"/>
            <a:ext cx="11704320" cy="2971957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54864"/>
          </a:xfrm>
          <a:prstGeom prst="rect">
            <a:avLst/>
          </a:prstGeom>
          <a:solidFill>
            <a:srgbClr val="C97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Migration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5D3E6"/>
                </a:solidFill>
                <a:latin typeface="Calibri"/>
              </a:rPr>
              <a:t>Strangler-fig, bounded-context by bounded-context, contract-tested at every step.</a:t>
            </a:r>
          </a:p>
          <a:p>
            <a:pPr algn="l"/>
            <a:r>
              <a:rPr sz="1400" b="0">
                <a:solidFill>
                  <a:srgbClr val="9DB4D4"/>
                </a:solidFill>
                <a:latin typeface="Calibri"/>
              </a:rPr>
              <a:t>Target: Spring Boot 3.x · Java 21 · hexagonal (ports &amp; adapters) · one transport, not both variants.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Migration Strategy &amp;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E6DB4"/>
                </a:solidFill>
                <a:latin typeface="Calibri"/>
              </a:rPr>
              <a:t>•  Strategy: Strangler Fig — new system beside old behind a façade; migrate one bounded context at a time; always shippable; easy rollback.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F8F46"/>
                </a:solidFill>
                <a:latin typeface="Calibri"/>
              </a:rPr>
              <a:t>•  Characterization tests FIRST — pin legacy behaviour before touching code; migration becomes migrate → test → green-or-rollback.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F3355"/>
                </a:solidFill>
                <a:latin typeface="Calibri"/>
              </a:rPr>
              <a:t>•  Core principles: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–  Ports &amp; adapters — DB &amp; messaging behind interfaces → swaps become additive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–  Framework-free domain model (POJOs/records) — no JPA/Jackson on domain types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–  Preserve the contract — same status codes, message shapes, edge behaviours (see dangerous edge cases)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–  Migrate ONE transport, not both variants (JMS standard build, drop the SOAP duplicate)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B23A48"/>
                </a:solidFill>
                <a:latin typeface="Calibri"/>
              </a:rPr>
              <a:t>–  Delete, don't port: ServiceLocator, Home/Local trios, WAF engine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–  Automate mechanical (javax→jakarta, boilerplate); humans review the semantic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–  Data migration is its own workstream: redesign CMP schema, backfill, reconcile, reversible scripts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–  State in a ledger (survives context resets) + ADRs for key decisions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Phased Roadmap — by Bounded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Order = lowest-risk / most-value first; async backbone last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188720"/>
          <a:ext cx="1152144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566160"/>
                <a:gridCol w="3108960"/>
                <a:gridCol w="2834640"/>
              </a:tblGrid>
              <a:tr h="5689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Phase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Scope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Why here / risk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Done when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0 · Scaffold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Target repo, CI, CLAUDE.md, ledger, char-test harness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De-risk before any rewrite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Empty app deploys; harness runs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1 · Catalog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Browse APIs + catalog schema (clean DAO)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No inbound deps; proves the stack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Browse contract tests green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2 · Customer/SignOn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Register, profile, auth (CMP → JPA)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Self-contained; security-sensitive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Auth + profile tests green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3 · Cart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Cart APIs (stateful → @SessionScope)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Depends on catalog; edge-case heavy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Cart edge tests green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4 · Order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Checkout + PurchaseOrder aggregate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Core domain; the rich write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Checkout emits + persists correctly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5 · OPC + Supplier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MDB workflow, inventory, invoice (JMS backbone)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Highest coupling; async + idempotency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End-to-end order flow green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6 · Admin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Approval endpoints (REST replaces Swing/JWS)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Swing client can't be carried forward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Admin approval flow green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7 · Cutover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Data migration, parallel-run, decommission legacy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Reconcile old↔new before switch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Legacy off; ledger all-green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Target Architecture &amp; Key Decisions (ADRs)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E6DB4"/>
                </a:solidFill>
                <a:latin typeface="Calibri"/>
              </a:rPr>
              <a:t>Target: modular monolith (default) — 1 Spring Boot app, module per bounded context, in-process events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600200"/>
          <a:ext cx="114300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389120"/>
                <a:gridCol w="4297680"/>
              </a:tblGrid>
              <a:tr h="5181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Decision (ADR)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Options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Recommended default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Async topology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Keep broker (Kafka/Rabbit) vs in-process Spring events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In-process events (monolith); broker only if OPC needs independent scale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Transport variant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JMS standard build vs SOAP web-services build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Migrate JMS build; drop SOAP duplicate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Persistence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DB-per-context vs single consolidated schema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Single schema (monolith); redesign CMP tables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Checkout consistency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Keep async fire-and-forget vs synchronous write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Keep async (preserve semantics) — flag if UX needs sync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Shared value objects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Duplicate per context vs one shared domain lib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Shared domain module (ContactInfo/Address/CreditCard/LineItem)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65760" y="4892040"/>
            <a:ext cx="11430000" cy="1371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983480"/>
            <a:ext cx="110642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1F3355"/>
                </a:solidFill>
                <a:latin typeface="Calibri"/>
              </a:rPr>
              <a:t>Migration order follows the high-level flow: customer path first (catalog→customer→cart→order), then the async OPC/Supplier backbone, admin last. Every phase: characterization tests green → commit → ledger update. Nothing is decommissioned until parallel-run reconciles old vs new.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Database Schema &amp; Mappings — Full ER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22 tables · green = relational (catalog) · red = CMP-generated · amber = join · ◆ PK ▸ FK</a:t>
            </a:r>
          </a:p>
        </p:txBody>
      </p:sp>
      <p:pic>
        <p:nvPicPr>
          <p:cNvPr id="5" name="Picture 4" descr="petstore_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4917" y="1097280"/>
            <a:ext cx="704186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How the Schema Maps — Key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F8F46"/>
                </a:solidFill>
                <a:latin typeface="Calibri"/>
              </a:rPr>
              <a:t>•  Catalog (real FKs, locale-split):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–  category ─&lt; product ─&lt; item ; each base table has a _details child keyed by (id, locale) for i18n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B23A48"/>
                </a:solidFill>
                <a:latin typeface="Calibri"/>
              </a:rPr>
              <a:t>•  Customer graph (CMP container-managed, via __PMPrimaryKey / __reverse_*):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–  User (login) ┈ Customer 1—1 Account 1—1 ContactInfo 1—1 Address ; Customer 1—1 Profile ; Account 1—1 CreditCard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B23A48"/>
                </a:solidFill>
                <a:latin typeface="Calibri"/>
              </a:rPr>
              <a:t>•  Order graph: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–  PurchaseOrder 1—N LineItem (via join table) ; PO 1—1 ContactInfo (bill/ship) &amp; CreditCard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–  ManagerEJBTable(orderId≈poId, status) = workflow spine — written by 3 MDBs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B23A48"/>
                </a:solidFill>
                <a:latin typeface="Calibri"/>
              </a:rPr>
              <a:t>•  Supplier graph: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–  SupplierOrder 1—N LineItem (join) ; fulfils against Inventory via itemId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B23A48"/>
                </a:solidFill>
                <a:latin typeface="Calibri"/>
              </a:rPr>
              <a:t>•  Duplicated shared tables — the big migration flag: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–  ContactInfo/Address (petstore+opc+supplier), CreditCard (petstore+opc), LineItem (opc+supplier) — each app has its own copy (database-per-app)</a:t>
            </a:r>
          </a:p>
          <a:p>
            <a:pPr lvl="1">
              <a:spcAft>
                <a:spcPts val="600"/>
              </a:spcAft>
            </a:pPr>
            <a:r>
              <a:rPr sz="1300" b="1">
                <a:solidFill>
                  <a:srgbClr val="2E6DB4"/>
                </a:solidFill>
                <a:latin typeface="Calibri"/>
              </a:rPr>
              <a:t>–  Target: drop __PMPrimaryKey/__reverse_*, fix types (poValue REAL→DECIMAL, poDate LONGINT→timestamp), consolidate shared tables into one domain module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54864"/>
          </a:xfrm>
          <a:prstGeom prst="rect">
            <a:avLst/>
          </a:prstGeom>
          <a:solidFill>
            <a:srgbClr val="C97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Decision Log (ADRs)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5D3E6"/>
                </a:solidFill>
                <a:latin typeface="Calibri"/>
              </a:rPr>
              <a:t>Every migration decision — the approaches we weighed and what we chose.</a:t>
            </a:r>
          </a:p>
          <a:p>
            <a:pPr algn="l"/>
            <a:r>
              <a:rPr sz="1400" b="0">
                <a:solidFill>
                  <a:srgbClr val="9DB4D4"/>
                </a:solidFill>
                <a:latin typeface="Calibri"/>
              </a:rPr>
              <a:t>DECIDED = locked by user · RECOMMENDED = proposed, awaiting confirm · OPEN = to be decided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Decisions — DECIDED (locked)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Approaches considered → what we chose → why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70432"/>
          <a:ext cx="11658600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383280"/>
                <a:gridCol w="3291840"/>
                <a:gridCol w="2788920"/>
              </a:tblGrid>
              <a:tr h="5842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Decision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Approaches considered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Chosen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Why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Source app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kitchensink · Pet Store · both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Pet Store only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User focus; kitchensink out of scope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Target runtime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Spring Boot · Quarkus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Spring Boot 3.x / Java 21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Ecosystem, simple local run, exec JAR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Async messaging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Keep JMS (broker) · in-process events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Keep JMS (@JmsListener, InvoiceTopic)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User directive; faithful to distributed design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SOAP variant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Migrate it · drop it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Drop — JMS build only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Two builds are duplicates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Database (goal 1)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H2 · Postgres · MongoDB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H2 embedded (Mongo = stretch)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No install; runs on laptop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Business logic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Refactor/improve · preserve exactly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Preserve exactly (char-tests)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User directive; parity first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Design approach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Ad hoc · SOLID + patterns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SOLID; ASK before choosing a pattern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User directive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Legacy code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Edit in place · new project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New petstore-app-v1/; legacy read-only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It's a re-platform, not edits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Decisions — Resolved During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Strategy/architecture + the pattern &amp; technical calls made per phase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70432"/>
          <a:ext cx="11658600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754880"/>
                <a:gridCol w="4434840"/>
              </a:tblGrid>
              <a:tr h="43815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Decision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Approaches considered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Chosen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Migration strategy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Big-bang · Strangler Fig · lift-and-shift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Strangler Fig, characterization-tests-first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Architecture topology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Modular monolith · microservices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Modular monolith, ports &amp; adapters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Local layout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Multi-Maven-module · single module + packages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Single module, strict package boundaries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JMS broker (local)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Embedded Artemis · external ActiveMQ (Docker)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Embedded Artemis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Order workflow pattern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GoF State pattern · enum + guarded transitions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Enum + guarded transitions (right-sized)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Web action dispatch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Explicit Command pattern · thin controllers→services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Thin controllers → services (idiomatic Spring)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Inventory concurrency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Atomic conditional UPDATE · @Version · pessimistic lock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Pessimistic lock (SELECT…FOR UPDATE) — user-directed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Checkout consistency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Keep optimistic · real-time reservation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Keep optimistic (async fulfilment)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Admin client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Migrate Swing/JWS · REST endpoints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REST endpoints (Swing dead on modern JVM)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Approve→fulfil trigger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Publish inline in tx · AFTER_COMMIT event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AFTER_COMMIT transactional event (race fix)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Password storage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Hash now · preserve plaintext (parity)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Preserve plaintext (hashing = post-cutover)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Implementation Status — petstore-app-v1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Spring Boot 3.3 · Java 21 · embedded H2 + Artemis · 43 tests green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34440"/>
          <a:ext cx="114300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6492240"/>
                <a:gridCol w="2560320"/>
              </a:tblGrid>
              <a:tr h="3962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Phase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Delivered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Verified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0 Scaffold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Boot 3.3/Java 21, H2, embedded Artemis, char-test harness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boots on Java 21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1 Catalog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domain, CatalogRepository port + JPA adapter, browse UI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9 tests · browsable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2 Customer/SignOn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auth, registration, profile (CMP→JPA)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7 tests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3 Cart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@SessionScope cart, all edge-case quirks preserved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10 tests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4 Order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checkout, PO aggregate, enum workflow, JMS publish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7 tests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5 Fulfilment+JMS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@JmsListener, pessimistic inventory, idempotent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5 tests · live async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6 Web+Admin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REST admin approve/deny, exception handler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5 tests · live e2e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7 Cutover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documented plan (data migration, parallel-run, decommission)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PHASE7_CUTOVER.md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65760" y="5029200"/>
            <a:ext cx="11430000" cy="12801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120640"/>
            <a:ext cx="11064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3355"/>
                </a:solidFill>
                <a:latin typeface="Calibri"/>
              </a:rPr>
              <a:t>Two bugs caught by LIVE end-to-end testing (not unit tests): (1) large orders auto-shipped without approval; (2) approve→fulfil race (published before commit). Both fixed + regression-tested.</a:t>
            </a:r>
          </a:p>
          <a:p>
            <a:pPr algn="l"/>
            <a:r>
              <a:rPr sz="1200" b="0">
                <a:solidFill>
                  <a:srgbClr val="2E6DB4"/>
                </a:solidFill>
                <a:latin typeface="Calibri"/>
              </a:rPr>
              <a:t>Ports keep DB (H2→Mongo) and broker (Artemis→Kafka) swaps additive — zero change to domain/services/tests.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Legacy: How a Customer Adds to Cart &amp; Checks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Reverse-engineered from the JSPs + mappings.xml + signon-config.xml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704088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F3355"/>
                </a:solidFill>
                <a:latin typeface="Consolas"/>
              </a:rPr>
              <a:t>ADD TO CART (from item.jsp / product.jsp / search.jsp)
  Each item row shows an "Add to Cart" link:
    GET /cart.do?action=purchase&amp;itemId=EST-1
      → CartEvent(ADD_ITEM) → ShoppingCartLocalEJB.addItem()
CHECKOUT (multi-step, sign-in gated)
  1. cart.jsp → "Proceed to Checkout"
        → enter_order_information.screen
  2. That screen is a PROTECTED resource →
        SignOnFilter forces sign-in first
  3. enter_order_information.jsp = a FORM collecting
        Billing info + Shipping info + Credit card
        → POST order.do
  4. order.do (OrderEJBAction) → build PO → JMS
        → order_complete.screen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371600"/>
            <a:ext cx="4023360" cy="45720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09560" y="1463040"/>
            <a:ext cx="379476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B23A48"/>
                </a:solidFill>
                <a:latin typeface="Calibri"/>
              </a:rPr>
              <a:t>Key legacy facts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Add-to-Cart link is on EVERY item — on the item page, product page, AND search results.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Checkout REQUIRES sign-in (SignOnFilter protects enter_order_information).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Checkout collects billing + shipping address + credit card on a form before placing the order.</a:t>
            </a:r>
          </a:p>
          <a:p>
            <a:pPr algn="l"/>
            <a:r>
              <a:rPr sz="1200" b="0">
                <a:solidFill>
                  <a:srgbClr val="1F3355"/>
                </a:solidFill>
                <a:latin typeface="Calibri"/>
              </a:rPr>
              <a:t>The cart is a stateful session EJB — lost on sign-off / timeout.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Feature Comparison — Legacy vs Migrated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What's covered, and the remaining gaps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70432"/>
          <a:ext cx="11658600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468880"/>
                <a:gridCol w="3657600"/>
                <a:gridCol w="1325880"/>
              </a:tblGrid>
              <a:tr h="375557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Legacy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Migrated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Gap?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</a:tr>
              <a:tr h="37555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Browse catalog (category→product→item)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37555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Search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37555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Add to Cart from item/product/search UI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yes (link per item)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backend only — NO UI link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UI GAP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37555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Cart view / update / remove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37555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Checkout requires sign-in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yes (/checkout authenticated)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37555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Checkout collects billing+shipping+card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yes (form)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only userId+email — no address/card capture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GAP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37555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Order → async JMS fulfilment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37555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Register / profile / address / credit card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yes (REST endpoints)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37555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Sign-on / logout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yes (SignOnFilter)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yes (Spring Security)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37555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Admin approve / deny orders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yes (Swing/JWS)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yes (REST)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37555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Inventory oversell → backorder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yes (pessimistic lock)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37555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i18n (en / ja / zh)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yes (full)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?lang= param; only en_US seeded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Partial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375559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Admin sales charts (getChartInfo)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not migrated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Out of scope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Remaining Gaps After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B23A48"/>
                </a:solidFill>
                <a:latin typeface="Calibri"/>
              </a:rPr>
              <a:t>Genuine functional gaps (worth closing for full parity):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155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Add-to-Cart UI link — legacy had it on every item/product/search row; migrated has the /cart/add endpoint but no button, so the store isn't click-to-buy in the browser.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Checkout form — legacy collects billing + shipping + credit card; migrated /checkout only takes userId+email and doesn't pull the saved account/card. Works, but thinner.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i18n — legacy fully multilingual (en/ja/zh); migrated supports ?lang= but only en_US data is seeded.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0233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55555"/>
                </a:solidFill>
                <a:latin typeface="Calibri"/>
              </a:rPr>
              <a:t>Deliberately out of scope (documented):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48056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Admin sales charts (getChartInfo) — analytics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Supplier queryOrderStatus + warehouse inventory-view UI — internal supplier tooling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SOAP web-services variant — deliberately dropped (migrate JMS build only)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806440"/>
            <a:ext cx="11247120" cy="5486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870448"/>
            <a:ext cx="10881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F3355"/>
                </a:solidFill>
                <a:latin typeface="Calibri"/>
              </a:rPr>
              <a:t>Everything else — browse, cart, checkout, fulfilment, registration, account, card, sign-on/logout, admin — is migrated &amp; tested (55 tests).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54864"/>
          </a:xfrm>
          <a:prstGeom prst="rect">
            <a:avLst/>
          </a:prstGeom>
          <a:solidFill>
            <a:srgbClr val="C97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customer-service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5D3E6"/>
                </a:solidFill>
                <a:latin typeface="Calibri"/>
              </a:rPr>
              <a:t>The extracted identity/accounts microservice — customer &amp; auth endpoints only.</a:t>
            </a:r>
          </a:p>
          <a:p>
            <a:pPr algn="l"/>
            <a:r>
              <a:rPr sz="1300" b="0">
                <a:solidFill>
                  <a:srgbClr val="9DB4D4"/>
                </a:solidFill>
                <a:latin typeface="Calibri"/>
              </a:rPr>
              <a:t>Endpoints: POST /register · POST /auth/login · GET /customer/{id} · PUT /customer/{id}/account|profile|card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Customer Endpoints — Legacy Problems vs Fixed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Scope: register / login / customer profile-account-card only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70432"/>
          <a:ext cx="11658600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2160"/>
                <a:gridCol w="1280160"/>
                <a:gridCol w="4526280"/>
              </a:tblGrid>
              <a:tr h="5257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Legacy problem (customer endpoints)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Fixed?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How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Plaintext passwords (matchPassword = string equality)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FIXED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BCrypt hash at rest + encoder.matches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Username = customer identity (guessable, enumerable)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FIXED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Opaque RANDOM customerId (stored UUID), in JWT cid claim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Stateful sign-on (SignOnFilter + server session)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FIXED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Stateless JWT — issued on /auth/login, verified per request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Customer PII + card duplicated / __PMPrimaryKey / VARCHAR(255)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FIXED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One owned customer schema, consolidated + typed columns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Full card number returned on GET /customer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FIXED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cardMasked (**** **** **** 1111)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No validation on register/update (blank/garbage accepted)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FIXED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@Valid — NotBlank userName, pwd 4-25, @Email; 400 field map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Inconsistent error responses on customer endpoints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FIXED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@RestControllerAdvice — uniform {status,error,detail,correlationId}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Hard to debug a login/register request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FIXED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Correlation-id per request (MDC + X-Correlation-Id header) + actuator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No transport security on credentials (HTTP)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DEFERRED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TLS is gateway/infra — not fixed locally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Customer Endpoints — Further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Next steps specific to auth + customer APIs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B23A48"/>
                </a:solidFill>
                <a:latin typeface="Calibri"/>
              </a:rPr>
              <a:t>Auth / credential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TLS on /register and /auth/login so credentials aren't sent in clear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JWT: RS256 asymmetric signing + JWKS (so services verify without holding the mint key)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Refresh tokens + revocation denylist so /logout truly invalidates a token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Rate limiting + account lockout on /auth/login (brute-force defence)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F8F46"/>
                </a:solidFill>
                <a:latin typeface="Calibri"/>
              </a:rPr>
              <a:t>Customer data / ids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F3355"/>
                </a:solidFill>
                <a:latin typeface="Calibri"/>
              </a:rPr>
              <a:t>•  Snowflake-style customerId option: 64-bit, collision-free across DB shards without coordination + time-sortable (vs random UUID). Trade-off: leaks signup time/node — random UUID preferred for a customer id.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PCI: tokenize / vault the credit card instead of storing the PAN (even masked-on-read)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Email verification + password-reset flow on registration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1F3355"/>
                </a:solidFill>
                <a:latin typeface="Calibri"/>
              </a:rPr>
              <a:t>•  Postgres for the customer DB + Flyway migrations (H2 today loses data on restart)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Service vs Library — When to Extract a Component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The rule we applied when splitting the monolith (cart is a library, not a service)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3355"/>
                </a:solidFill>
                <a:latin typeface="Calibri"/>
              </a:rPr>
              <a:t>Deciding question: does the component own remote, shared, or durable state — or need to scale / deploy independently? If yes → service. If no → in-process library.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82880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840480"/>
                <a:gridCol w="3291840"/>
                <a:gridCol w="1737360"/>
              </a:tblGrid>
              <a:tr h="43891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Owns DB / shared durable state?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Independent scale / deploy?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Verdict</a:t>
                      </a:r>
                    </a:p>
                  </a:txBody>
                  <a:tcPr anchor="ctr" marT="25400" marB="25400" marL="63500" marR="63500">
                    <a:solidFill>
                      <a:srgbClr val="1F335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customer-service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Yes — accounts, credentials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Yes (identity/JWT issuer)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SERVICE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catalog-service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Yes — products (read-heavy)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Yes (cacheable, read-scaled)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SERVICE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admin-office-service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Yes — orders, inventory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Yes (different traffic/roles)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SERVICE</a:t>
                      </a:r>
                    </a:p>
                  </a:txBody>
                  <a:tcPr anchor="ctr" marT="25400" marB="25400" marL="63500" marR="6350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cart (cart-lib)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No — ephemeral per-session, in-memory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No independent reason; on hot path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F3355"/>
                          </a:solidFill>
                          <a:latin typeface="Calibri"/>
                        </a:defRPr>
                      </a:pPr>
                      <a:r>
                        <a:t>LIBRARY</a:t>
                      </a:r>
                    </a:p>
                  </a:txBody>
                  <a:tcPr anchor="ctr" marT="25400" marB="25400" marL="63500" marR="63500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160520"/>
            <a:ext cx="5577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F8F46"/>
                </a:solidFill>
                <a:latin typeface="Calibri"/>
              </a:rPr>
              <a:t>Why cart is a LIBRARY (in-process)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72000"/>
            <a:ext cx="5577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•  Session-local, ephemeral state — no DB, no reason to be remote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•  A standalone server = a network hop for a user's own scratchpad (pure latency tax)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•  Stateful in-memory service is single-instance (or forces Redis) — extra distributed-state cost for no gain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•  On the checkout hot path; not an independently-evolving bounded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416052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97C2F"/>
                </a:solidFill>
                <a:latin typeface="Calibri"/>
              </a:rPr>
              <a:t>When cart would FLIP to a 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57200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•  Carts must survive across devices / sessions (durable)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•  Storefront scales horizontally with carts shared across instances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F3355"/>
                </a:solidFill>
                <a:latin typeface="Calibri"/>
              </a:rPr>
              <a:t>•  → then back it with Redis / a DB and extract — because it now owns SHARED state, not "for consistency"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3355"/>
                </a:solidFill>
                <a:latin typeface="Calibri"/>
              </a:rPr>
              <a:t>•  "Client" was the wrong frame: a client is a thin proxy to a remote owner; cart IS the state + logic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Migrated Architecture — As-Built (8 services + broker)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solid = HTTP/REST · dashed red = JMS · dotted grey = library/SDK imports · run: python3 petstore_architecture.py</a:t>
            </a:r>
          </a:p>
        </p:txBody>
      </p:sp>
      <p:pic>
        <p:nvPicPr>
          <p:cNvPr id="5" name="Picture 4" descr="petstore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901" y="1143000"/>
            <a:ext cx="9621893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Package &amp; Client-SDK Dependencies (Maven)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5D3E6"/>
                </a:solidFill>
                <a:latin typeface="Calibri"/>
              </a:rPr>
              <a:t>green = service publishes its SDK · blue = imports a client SDK (HTTP) · grey = imports a shared library (in-process)</a:t>
            </a:r>
          </a:p>
        </p:txBody>
      </p:sp>
      <p:pic>
        <p:nvPicPr>
          <p:cNvPr id="5" name="Picture 4" descr="petstore_pack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8966" y="1143000"/>
            <a:ext cx="7413763" cy="5394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